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310" r:id="rId3"/>
    <p:sldId id="311" r:id="rId4"/>
    <p:sldId id="262" r:id="rId5"/>
    <p:sldId id="312" r:id="rId6"/>
    <p:sldId id="313" r:id="rId7"/>
    <p:sldId id="326" r:id="rId8"/>
    <p:sldId id="314" r:id="rId9"/>
    <p:sldId id="315" r:id="rId10"/>
    <p:sldId id="258" r:id="rId11"/>
    <p:sldId id="318" r:id="rId12"/>
    <p:sldId id="316" r:id="rId13"/>
    <p:sldId id="319" r:id="rId14"/>
    <p:sldId id="317" r:id="rId15"/>
    <p:sldId id="320" r:id="rId16"/>
    <p:sldId id="321" r:id="rId17"/>
    <p:sldId id="322" r:id="rId18"/>
    <p:sldId id="323" r:id="rId19"/>
    <p:sldId id="324" r:id="rId20"/>
    <p:sldId id="32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295D6-C0E3-43E6-9ECA-143E500F1474}" v="376" dt="2026-06-08T22:17:59.2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11" autoAdjust="0"/>
    <p:restoredTop sz="79961" autoAdjust="0"/>
  </p:normalViewPr>
  <p:slideViewPr>
    <p:cSldViewPr snapToGrid="0">
      <p:cViewPr varScale="1">
        <p:scale>
          <a:sx n="55" d="100"/>
          <a:sy n="55" d="100"/>
        </p:scale>
        <p:origin x="15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Tatarka" userId="ce46a50798673087" providerId="LiveId" clId="{653BF390-7C77-4E88-BE70-7B4B4CC6C97E}"/>
    <pc:docChg chg="undo custSel addSld delSld modSld sldOrd">
      <pc:chgData name="Chris Tatarka" userId="ce46a50798673087" providerId="LiveId" clId="{653BF390-7C77-4E88-BE70-7B4B4CC6C97E}" dt="2026-06-08T22:17:59.232" v="2752" actId="164"/>
      <pc:docMkLst>
        <pc:docMk/>
      </pc:docMkLst>
      <pc:sldChg chg="modSp mod">
        <pc:chgData name="Chris Tatarka" userId="ce46a50798673087" providerId="LiveId" clId="{653BF390-7C77-4E88-BE70-7B4B4CC6C97E}" dt="2026-06-08T20:34:40.911" v="4" actId="1076"/>
        <pc:sldMkLst>
          <pc:docMk/>
          <pc:sldMk cId="2138453288" sldId="256"/>
        </pc:sldMkLst>
        <pc:spChg chg="mod">
          <ac:chgData name="Chris Tatarka" userId="ce46a50798673087" providerId="LiveId" clId="{653BF390-7C77-4E88-BE70-7B4B4CC6C97E}" dt="2026-06-08T20:34:40.911" v="4" actId="1076"/>
          <ac:spMkLst>
            <pc:docMk/>
            <pc:sldMk cId="2138453288" sldId="256"/>
            <ac:spMk id="3" creationId="{1084B5AD-312E-B51E-A87F-55A4A87C7970}"/>
          </ac:spMkLst>
        </pc:spChg>
        <pc:picChg chg="mod">
          <ac:chgData name="Chris Tatarka" userId="ce46a50798673087" providerId="LiveId" clId="{653BF390-7C77-4E88-BE70-7B4B4CC6C97E}" dt="2026-06-08T20:34:31.144" v="1" actId="1076"/>
          <ac:picMkLst>
            <pc:docMk/>
            <pc:sldMk cId="2138453288" sldId="256"/>
            <ac:picMk id="5" creationId="{0D0D4AA7-4767-A1AE-BAA2-B95562AE1F2D}"/>
          </ac:picMkLst>
        </pc:picChg>
        <pc:picChg chg="mod">
          <ac:chgData name="Chris Tatarka" userId="ce46a50798673087" providerId="LiveId" clId="{653BF390-7C77-4E88-BE70-7B4B4CC6C97E}" dt="2026-06-08T20:34:28.576" v="0" actId="1076"/>
          <ac:picMkLst>
            <pc:docMk/>
            <pc:sldMk cId="2138453288" sldId="256"/>
            <ac:picMk id="6" creationId="{252E1DBB-C064-7F3A-93F5-838BBE8E998B}"/>
          </ac:picMkLst>
        </pc:picChg>
      </pc:sldChg>
      <pc:sldChg chg="del">
        <pc:chgData name="Chris Tatarka" userId="ce46a50798673087" providerId="LiveId" clId="{653BF390-7C77-4E88-BE70-7B4B4CC6C97E}" dt="2026-06-08T21:24:09.722" v="2334" actId="47"/>
        <pc:sldMkLst>
          <pc:docMk/>
          <pc:sldMk cId="2061188997" sldId="257"/>
        </pc:sldMkLst>
      </pc:sldChg>
      <pc:sldChg chg="modSp mod">
        <pc:chgData name="Chris Tatarka" userId="ce46a50798673087" providerId="LiveId" clId="{653BF390-7C77-4E88-BE70-7B4B4CC6C97E}" dt="2026-06-08T22:14:52.423" v="2490" actId="20577"/>
        <pc:sldMkLst>
          <pc:docMk/>
          <pc:sldMk cId="3506966093" sldId="313"/>
        </pc:sldMkLst>
        <pc:spChg chg="mod">
          <ac:chgData name="Chris Tatarka" userId="ce46a50798673087" providerId="LiveId" clId="{653BF390-7C77-4E88-BE70-7B4B4CC6C97E}" dt="2026-06-08T22:14:52.423" v="2490" actId="20577"/>
          <ac:spMkLst>
            <pc:docMk/>
            <pc:sldMk cId="3506966093" sldId="313"/>
            <ac:spMk id="2" creationId="{8639F593-5E18-19EA-62F6-0056EF21264D}"/>
          </ac:spMkLst>
        </pc:spChg>
        <pc:picChg chg="mod">
          <ac:chgData name="Chris Tatarka" userId="ce46a50798673087" providerId="LiveId" clId="{653BF390-7C77-4E88-BE70-7B4B4CC6C97E}" dt="2026-06-08T22:14:40.341" v="2480" actId="1076"/>
          <ac:picMkLst>
            <pc:docMk/>
            <pc:sldMk cId="3506966093" sldId="313"/>
            <ac:picMk id="5" creationId="{B0C0BBD8-2BFF-C75A-A059-D2F1CBF7BD3D}"/>
          </ac:picMkLst>
        </pc:picChg>
      </pc:sldChg>
      <pc:sldChg chg="addSp delSp modSp mod addAnim delAnim modAnim">
        <pc:chgData name="Chris Tatarka" userId="ce46a50798673087" providerId="LiveId" clId="{653BF390-7C77-4E88-BE70-7B4B4CC6C97E}" dt="2026-06-08T21:10:00.144" v="1045" actId="207"/>
        <pc:sldMkLst>
          <pc:docMk/>
          <pc:sldMk cId="3624256706" sldId="317"/>
        </pc:sldMkLst>
        <pc:spChg chg="mod">
          <ac:chgData name="Chris Tatarka" userId="ce46a50798673087" providerId="LiveId" clId="{653BF390-7C77-4E88-BE70-7B4B4CC6C97E}" dt="2026-06-08T20:43:13.443" v="38" actId="207"/>
          <ac:spMkLst>
            <pc:docMk/>
            <pc:sldMk cId="3624256706" sldId="317"/>
            <ac:spMk id="2" creationId="{22F4B245-DF33-4A2E-F4E4-8AB252557EE6}"/>
          </ac:spMkLst>
        </pc:spChg>
        <pc:spChg chg="del mod">
          <ac:chgData name="Chris Tatarka" userId="ce46a50798673087" providerId="LiveId" clId="{653BF390-7C77-4E88-BE70-7B4B4CC6C97E}" dt="2026-06-08T20:46:49.195" v="55" actId="478"/>
          <ac:spMkLst>
            <pc:docMk/>
            <pc:sldMk cId="3624256706" sldId="317"/>
            <ac:spMk id="3" creationId="{825D878A-003C-5A1B-4911-8F9708367444}"/>
          </ac:spMkLst>
        </pc:spChg>
        <pc:spChg chg="add mod">
          <ac:chgData name="Chris Tatarka" userId="ce46a50798673087" providerId="LiveId" clId="{653BF390-7C77-4E88-BE70-7B4B4CC6C97E}" dt="2026-06-08T21:09:09.335" v="1033" actId="404"/>
          <ac:spMkLst>
            <pc:docMk/>
            <pc:sldMk cId="3624256706" sldId="317"/>
            <ac:spMk id="6" creationId="{A121967A-838E-4574-A1F7-16C4A99B928C}"/>
          </ac:spMkLst>
        </pc:spChg>
        <pc:spChg chg="add mod">
          <ac:chgData name="Chris Tatarka" userId="ce46a50798673087" providerId="LiveId" clId="{653BF390-7C77-4E88-BE70-7B4B4CC6C97E}" dt="2026-06-08T21:09:37.470" v="1036" actId="1076"/>
          <ac:spMkLst>
            <pc:docMk/>
            <pc:sldMk cId="3624256706" sldId="317"/>
            <ac:spMk id="7" creationId="{A3EEE4F0-7D6F-ACD6-9BFA-9A6FAA1955C5}"/>
          </ac:spMkLst>
        </pc:spChg>
        <pc:spChg chg="add mod">
          <ac:chgData name="Chris Tatarka" userId="ce46a50798673087" providerId="LiveId" clId="{653BF390-7C77-4E88-BE70-7B4B4CC6C97E}" dt="2026-06-08T21:10:00.144" v="1045" actId="207"/>
          <ac:spMkLst>
            <pc:docMk/>
            <pc:sldMk cId="3624256706" sldId="317"/>
            <ac:spMk id="11" creationId="{7D2749C4-4042-C0A3-D17A-59A80F5BDDD4}"/>
          </ac:spMkLst>
        </pc:spChg>
        <pc:picChg chg="add mod">
          <ac:chgData name="Chris Tatarka" userId="ce46a50798673087" providerId="LiveId" clId="{653BF390-7C77-4E88-BE70-7B4B4CC6C97E}" dt="2026-06-08T21:02:30.546" v="792" actId="14100"/>
          <ac:picMkLst>
            <pc:docMk/>
            <pc:sldMk cId="3624256706" sldId="317"/>
            <ac:picMk id="5" creationId="{92591018-818C-E1BF-E64C-D525BC178A0B}"/>
          </ac:picMkLst>
        </pc:picChg>
      </pc:sldChg>
      <pc:sldChg chg="add ord">
        <pc:chgData name="Chris Tatarka" userId="ce46a50798673087" providerId="LiveId" clId="{653BF390-7C77-4E88-BE70-7B4B4CC6C97E}" dt="2026-06-08T20:46:53.429" v="57"/>
        <pc:sldMkLst>
          <pc:docMk/>
          <pc:sldMk cId="931463872" sldId="319"/>
        </pc:sldMkLst>
      </pc:sldChg>
      <pc:sldChg chg="addSp modSp add mod">
        <pc:chgData name="Chris Tatarka" userId="ce46a50798673087" providerId="LiveId" clId="{653BF390-7C77-4E88-BE70-7B4B4CC6C97E}" dt="2026-06-08T20:50:19.656" v="360" actId="115"/>
        <pc:sldMkLst>
          <pc:docMk/>
          <pc:sldMk cId="3058220666" sldId="320"/>
        </pc:sldMkLst>
        <pc:spChg chg="add mod">
          <ac:chgData name="Chris Tatarka" userId="ce46a50798673087" providerId="LiveId" clId="{653BF390-7C77-4E88-BE70-7B4B4CC6C97E}" dt="2026-06-08T20:49:09.173" v="211" actId="207"/>
          <ac:spMkLst>
            <pc:docMk/>
            <pc:sldMk cId="3058220666" sldId="320"/>
            <ac:spMk id="3" creationId="{B15097B2-0417-65CF-BAEC-37C1A92942CB}"/>
          </ac:spMkLst>
        </pc:spChg>
        <pc:spChg chg="add mod">
          <ac:chgData name="Chris Tatarka" userId="ce46a50798673087" providerId="LiveId" clId="{653BF390-7C77-4E88-BE70-7B4B4CC6C97E}" dt="2026-06-08T20:50:19.656" v="360" actId="115"/>
          <ac:spMkLst>
            <pc:docMk/>
            <pc:sldMk cId="3058220666" sldId="320"/>
            <ac:spMk id="4" creationId="{F21C087A-28F6-FE19-56BE-1E66CABBE866}"/>
          </ac:spMkLst>
        </pc:spChg>
        <pc:spChg chg="mod">
          <ac:chgData name="Chris Tatarka" userId="ce46a50798673087" providerId="LiveId" clId="{653BF390-7C77-4E88-BE70-7B4B4CC6C97E}" dt="2026-06-08T20:48:55.529" v="209" actId="122"/>
          <ac:spMkLst>
            <pc:docMk/>
            <pc:sldMk cId="3058220666" sldId="320"/>
            <ac:spMk id="6" creationId="{E491C996-9EC7-172A-4661-6F1854C52B29}"/>
          </ac:spMkLst>
        </pc:spChg>
        <pc:picChg chg="mod">
          <ac:chgData name="Chris Tatarka" userId="ce46a50798673087" providerId="LiveId" clId="{653BF390-7C77-4E88-BE70-7B4B4CC6C97E}" dt="2026-06-08T20:48:44.119" v="205" actId="14100"/>
          <ac:picMkLst>
            <pc:docMk/>
            <pc:sldMk cId="3058220666" sldId="320"/>
            <ac:picMk id="5" creationId="{22EF83BC-4F79-2DAB-8342-00E71D8367A3}"/>
          </ac:picMkLst>
        </pc:picChg>
      </pc:sldChg>
      <pc:sldChg chg="addSp delSp modSp add mod">
        <pc:chgData name="Chris Tatarka" userId="ce46a50798673087" providerId="LiveId" clId="{653BF390-7C77-4E88-BE70-7B4B4CC6C97E}" dt="2026-06-08T21:06:41.334" v="816" actId="1076"/>
        <pc:sldMkLst>
          <pc:docMk/>
          <pc:sldMk cId="2400672285" sldId="321"/>
        </pc:sldMkLst>
        <pc:spChg chg="mod">
          <ac:chgData name="Chris Tatarka" userId="ce46a50798673087" providerId="LiveId" clId="{653BF390-7C77-4E88-BE70-7B4B4CC6C97E}" dt="2026-06-08T20:52:18.797" v="379" actId="20577"/>
          <ac:spMkLst>
            <pc:docMk/>
            <pc:sldMk cId="2400672285" sldId="321"/>
            <ac:spMk id="2" creationId="{9DAB2790-1107-B771-591A-D34DBDCD1F05}"/>
          </ac:spMkLst>
        </pc:spChg>
        <pc:spChg chg="del">
          <ac:chgData name="Chris Tatarka" userId="ce46a50798673087" providerId="LiveId" clId="{653BF390-7C77-4E88-BE70-7B4B4CC6C97E}" dt="2026-06-08T20:52:26.342" v="381" actId="478"/>
          <ac:spMkLst>
            <pc:docMk/>
            <pc:sldMk cId="2400672285" sldId="321"/>
            <ac:spMk id="3" creationId="{5BA992B8-6256-3C71-01DA-69D286F8824F}"/>
          </ac:spMkLst>
        </pc:spChg>
        <pc:spChg chg="del">
          <ac:chgData name="Chris Tatarka" userId="ce46a50798673087" providerId="LiveId" clId="{653BF390-7C77-4E88-BE70-7B4B4CC6C97E}" dt="2026-06-08T20:52:23.245" v="380" actId="478"/>
          <ac:spMkLst>
            <pc:docMk/>
            <pc:sldMk cId="2400672285" sldId="321"/>
            <ac:spMk id="4" creationId="{354A466E-F117-7EB9-0982-C74E03FBA2FA}"/>
          </ac:spMkLst>
        </pc:spChg>
        <pc:spChg chg="del">
          <ac:chgData name="Chris Tatarka" userId="ce46a50798673087" providerId="LiveId" clId="{653BF390-7C77-4E88-BE70-7B4B4CC6C97E}" dt="2026-06-08T20:52:26.342" v="381" actId="478"/>
          <ac:spMkLst>
            <pc:docMk/>
            <pc:sldMk cId="2400672285" sldId="321"/>
            <ac:spMk id="6" creationId="{90F216E8-F59A-9CCC-2C6C-169D3D3797B0}"/>
          </ac:spMkLst>
        </pc:spChg>
        <pc:spChg chg="add mod">
          <ac:chgData name="Chris Tatarka" userId="ce46a50798673087" providerId="LiveId" clId="{653BF390-7C77-4E88-BE70-7B4B4CC6C97E}" dt="2026-06-08T21:06:41.334" v="816" actId="1076"/>
          <ac:spMkLst>
            <pc:docMk/>
            <pc:sldMk cId="2400672285" sldId="321"/>
            <ac:spMk id="7" creationId="{6EFF51EF-1DD9-96F4-44A1-C04E0FDF3CF6}"/>
          </ac:spMkLst>
        </pc:spChg>
        <pc:picChg chg="del">
          <ac:chgData name="Chris Tatarka" userId="ce46a50798673087" providerId="LiveId" clId="{653BF390-7C77-4E88-BE70-7B4B4CC6C97E}" dt="2026-06-08T20:52:26.342" v="381" actId="478"/>
          <ac:picMkLst>
            <pc:docMk/>
            <pc:sldMk cId="2400672285" sldId="321"/>
            <ac:picMk id="5" creationId="{A9EBEFA3-7D9A-AC99-2AAA-5F98EA3A3096}"/>
          </ac:picMkLst>
        </pc:picChg>
        <pc:picChg chg="add mod">
          <ac:chgData name="Chris Tatarka" userId="ce46a50798673087" providerId="LiveId" clId="{653BF390-7C77-4E88-BE70-7B4B4CC6C97E}" dt="2026-06-08T21:06:07.617" v="799" actId="14100"/>
          <ac:picMkLst>
            <pc:docMk/>
            <pc:sldMk cId="2400672285" sldId="321"/>
            <ac:picMk id="11" creationId="{6F894630-9ADA-CF34-07AA-E7F821E7C04D}"/>
          </ac:picMkLst>
        </pc:picChg>
      </pc:sldChg>
      <pc:sldChg chg="new del">
        <pc:chgData name="Chris Tatarka" userId="ce46a50798673087" providerId="LiveId" clId="{653BF390-7C77-4E88-BE70-7B4B4CC6C97E}" dt="2026-06-08T20:52:07.001" v="362" actId="680"/>
        <pc:sldMkLst>
          <pc:docMk/>
          <pc:sldMk cId="4062354906" sldId="321"/>
        </pc:sldMkLst>
      </pc:sldChg>
      <pc:sldChg chg="addSp delSp modSp add mod">
        <pc:chgData name="Chris Tatarka" userId="ce46a50798673087" providerId="LiveId" clId="{653BF390-7C77-4E88-BE70-7B4B4CC6C97E}" dt="2026-06-08T21:07:06.052" v="820" actId="1076"/>
        <pc:sldMkLst>
          <pc:docMk/>
          <pc:sldMk cId="3480052594" sldId="322"/>
        </pc:sldMkLst>
        <pc:spChg chg="mod">
          <ac:chgData name="Chris Tatarka" userId="ce46a50798673087" providerId="LiveId" clId="{653BF390-7C77-4E88-BE70-7B4B4CC6C97E}" dt="2026-06-08T20:57:14.868" v="718" actId="20577"/>
          <ac:spMkLst>
            <pc:docMk/>
            <pc:sldMk cId="3480052594" sldId="322"/>
            <ac:spMk id="2" creationId="{27A43013-B5EC-64D8-1418-2C2E7C82B528}"/>
          </ac:spMkLst>
        </pc:spChg>
        <pc:spChg chg="add mod">
          <ac:chgData name="Chris Tatarka" userId="ce46a50798673087" providerId="LiveId" clId="{653BF390-7C77-4E88-BE70-7B4B4CC6C97E}" dt="2026-06-08T20:59:20.323" v="776" actId="313"/>
          <ac:spMkLst>
            <pc:docMk/>
            <pc:sldMk cId="3480052594" sldId="322"/>
            <ac:spMk id="3" creationId="{201BB2C6-A907-D727-811C-7E8E7C51B019}"/>
          </ac:spMkLst>
        </pc:spChg>
        <pc:spChg chg="del mod">
          <ac:chgData name="Chris Tatarka" userId="ce46a50798673087" providerId="LiveId" clId="{653BF390-7C77-4E88-BE70-7B4B4CC6C97E}" dt="2026-06-08T20:55:07.231" v="428"/>
          <ac:spMkLst>
            <pc:docMk/>
            <pc:sldMk cId="3480052594" sldId="322"/>
            <ac:spMk id="7" creationId="{4D47445E-F985-0676-61D7-77AFA9C92735}"/>
          </ac:spMkLst>
        </pc:spChg>
        <pc:picChg chg="add mod modCrop">
          <ac:chgData name="Chris Tatarka" userId="ce46a50798673087" providerId="LiveId" clId="{653BF390-7C77-4E88-BE70-7B4B4CC6C97E}" dt="2026-06-08T21:06:57.327" v="817" actId="732"/>
          <ac:picMkLst>
            <pc:docMk/>
            <pc:sldMk cId="3480052594" sldId="322"/>
            <ac:picMk id="5" creationId="{06D208CB-17E2-E855-A11D-BCFCA5852315}"/>
          </ac:picMkLst>
        </pc:picChg>
        <pc:picChg chg="add mod modCrop">
          <ac:chgData name="Chris Tatarka" userId="ce46a50798673087" providerId="LiveId" clId="{653BF390-7C77-4E88-BE70-7B4B4CC6C97E}" dt="2026-06-08T21:07:06.052" v="820" actId="1076"/>
          <ac:picMkLst>
            <pc:docMk/>
            <pc:sldMk cId="3480052594" sldId="322"/>
            <ac:picMk id="9" creationId="{023EC6DA-E9A7-9435-DB78-0A2D9D7C916C}"/>
          </ac:picMkLst>
        </pc:picChg>
      </pc:sldChg>
      <pc:sldChg chg="delSp modSp add mod addAnim delAnim modAnim">
        <pc:chgData name="Chris Tatarka" userId="ce46a50798673087" providerId="LiveId" clId="{653BF390-7C77-4E88-BE70-7B4B4CC6C97E}" dt="2026-06-08T22:06:30.543" v="2476" actId="114"/>
        <pc:sldMkLst>
          <pc:docMk/>
          <pc:sldMk cId="1719423988" sldId="323"/>
        </pc:sldMkLst>
        <pc:spChg chg="mod">
          <ac:chgData name="Chris Tatarka" userId="ce46a50798673087" providerId="LiveId" clId="{653BF390-7C77-4E88-BE70-7B4B4CC6C97E}" dt="2026-06-08T21:11:34.870" v="1230" actId="1076"/>
          <ac:spMkLst>
            <pc:docMk/>
            <pc:sldMk cId="1719423988" sldId="323"/>
            <ac:spMk id="2" creationId="{F0083BF3-6B8C-BFA5-E1E4-25EA73ACD3B5}"/>
          </ac:spMkLst>
        </pc:spChg>
        <pc:spChg chg="mod">
          <ac:chgData name="Chris Tatarka" userId="ce46a50798673087" providerId="LiveId" clId="{653BF390-7C77-4E88-BE70-7B4B4CC6C97E}" dt="2026-06-08T22:06:30.543" v="2476" actId="114"/>
          <ac:spMkLst>
            <pc:docMk/>
            <pc:sldMk cId="1719423988" sldId="323"/>
            <ac:spMk id="3" creationId="{2EDB6FDF-F88F-A237-A227-68772C758FFB}"/>
          </ac:spMkLst>
        </pc:spChg>
        <pc:picChg chg="del">
          <ac:chgData name="Chris Tatarka" userId="ce46a50798673087" providerId="LiveId" clId="{653BF390-7C77-4E88-BE70-7B4B4CC6C97E}" dt="2026-06-08T21:11:37.131" v="1231" actId="478"/>
          <ac:picMkLst>
            <pc:docMk/>
            <pc:sldMk cId="1719423988" sldId="323"/>
            <ac:picMk id="5" creationId="{BFB7A75A-174B-2235-8FF5-EC3301C16C65}"/>
          </ac:picMkLst>
        </pc:picChg>
        <pc:picChg chg="del">
          <ac:chgData name="Chris Tatarka" userId="ce46a50798673087" providerId="LiveId" clId="{653BF390-7C77-4E88-BE70-7B4B4CC6C97E}" dt="2026-06-08T21:11:39.233" v="1232" actId="478"/>
          <ac:picMkLst>
            <pc:docMk/>
            <pc:sldMk cId="1719423988" sldId="323"/>
            <ac:picMk id="9" creationId="{D8325168-B411-E1EE-E9EC-1096BFD49589}"/>
          </ac:picMkLst>
        </pc:picChg>
      </pc:sldChg>
      <pc:sldChg chg="new del">
        <pc:chgData name="Chris Tatarka" userId="ce46a50798673087" providerId="LiveId" clId="{653BF390-7C77-4E88-BE70-7B4B4CC6C97E}" dt="2026-06-08T21:10:16.762" v="1047" actId="680"/>
        <pc:sldMkLst>
          <pc:docMk/>
          <pc:sldMk cId="2611291514" sldId="323"/>
        </pc:sldMkLst>
      </pc:sldChg>
      <pc:sldChg chg="new del">
        <pc:chgData name="Chris Tatarka" userId="ce46a50798673087" providerId="LiveId" clId="{653BF390-7C77-4E88-BE70-7B4B4CC6C97E}" dt="2026-06-08T21:17:28.453" v="1963" actId="680"/>
        <pc:sldMkLst>
          <pc:docMk/>
          <pc:sldMk cId="2045813585" sldId="324"/>
        </pc:sldMkLst>
      </pc:sldChg>
      <pc:sldChg chg="addSp modSp add mod addAnim delAnim modAnim">
        <pc:chgData name="Chris Tatarka" userId="ce46a50798673087" providerId="LiveId" clId="{653BF390-7C77-4E88-BE70-7B4B4CC6C97E}" dt="2026-06-08T21:27:35.396" v="2443"/>
        <pc:sldMkLst>
          <pc:docMk/>
          <pc:sldMk cId="4156006786" sldId="324"/>
        </pc:sldMkLst>
        <pc:spChg chg="mod">
          <ac:chgData name="Chris Tatarka" userId="ce46a50798673087" providerId="LiveId" clId="{653BF390-7C77-4E88-BE70-7B4B4CC6C97E}" dt="2026-06-08T21:17:50.301" v="1984" actId="20577"/>
          <ac:spMkLst>
            <pc:docMk/>
            <pc:sldMk cId="4156006786" sldId="324"/>
            <ac:spMk id="2" creationId="{7C2CFB06-1AC0-C8DC-571B-2F6907721EDD}"/>
          </ac:spMkLst>
        </pc:spChg>
        <pc:spChg chg="mod">
          <ac:chgData name="Chris Tatarka" userId="ce46a50798673087" providerId="LiveId" clId="{653BF390-7C77-4E88-BE70-7B4B4CC6C97E}" dt="2026-06-08T21:27:06.154" v="2439" actId="14100"/>
          <ac:spMkLst>
            <pc:docMk/>
            <pc:sldMk cId="4156006786" sldId="324"/>
            <ac:spMk id="3" creationId="{C38D55B5-7469-C717-CF2C-6A7C0F26A994}"/>
          </ac:spMkLst>
        </pc:spChg>
        <pc:picChg chg="add mod">
          <ac:chgData name="Chris Tatarka" userId="ce46a50798673087" providerId="LiveId" clId="{653BF390-7C77-4E88-BE70-7B4B4CC6C97E}" dt="2026-06-08T21:22:08.686" v="2149" actId="1076"/>
          <ac:picMkLst>
            <pc:docMk/>
            <pc:sldMk cId="4156006786" sldId="324"/>
            <ac:picMk id="5" creationId="{EB7301C9-A883-F475-7626-19769E79043E}"/>
          </ac:picMkLst>
        </pc:picChg>
      </pc:sldChg>
      <pc:sldChg chg="addSp delSp modSp add mod delAnim modAnim modNotesTx">
        <pc:chgData name="Chris Tatarka" userId="ce46a50798673087" providerId="LiveId" clId="{653BF390-7C77-4E88-BE70-7B4B4CC6C97E}" dt="2026-06-08T21:30:16.794" v="2458" actId="20577"/>
        <pc:sldMkLst>
          <pc:docMk/>
          <pc:sldMk cId="410801462" sldId="325"/>
        </pc:sldMkLst>
        <pc:spChg chg="mod">
          <ac:chgData name="Chris Tatarka" userId="ce46a50798673087" providerId="LiveId" clId="{653BF390-7C77-4E88-BE70-7B4B4CC6C97E}" dt="2026-06-08T21:25:00.543" v="2368" actId="6549"/>
          <ac:spMkLst>
            <pc:docMk/>
            <pc:sldMk cId="410801462" sldId="325"/>
            <ac:spMk id="2" creationId="{17E67D09-4B3C-B6C1-F759-77BC5CEFB760}"/>
          </ac:spMkLst>
        </pc:spChg>
        <pc:spChg chg="del mod">
          <ac:chgData name="Chris Tatarka" userId="ce46a50798673087" providerId="LiveId" clId="{653BF390-7C77-4E88-BE70-7B4B4CC6C97E}" dt="2026-06-08T21:24:49.682" v="2341"/>
          <ac:spMkLst>
            <pc:docMk/>
            <pc:sldMk cId="410801462" sldId="325"/>
            <ac:spMk id="3" creationId="{E2D43A2E-8F1E-4019-6DBA-5878D416D775}"/>
          </ac:spMkLst>
        </pc:spChg>
        <pc:spChg chg="add mod">
          <ac:chgData name="Chris Tatarka" userId="ce46a50798673087" providerId="LiveId" clId="{653BF390-7C77-4E88-BE70-7B4B4CC6C97E}" dt="2026-06-08T21:29:54.520" v="2454" actId="1076"/>
          <ac:spMkLst>
            <pc:docMk/>
            <pc:sldMk cId="410801462" sldId="325"/>
            <ac:spMk id="4" creationId="{973AA7F0-9965-435A-A840-A64D4932B477}"/>
          </ac:spMkLst>
        </pc:spChg>
        <pc:spChg chg="add del">
          <ac:chgData name="Chris Tatarka" userId="ce46a50798673087" providerId="LiveId" clId="{653BF390-7C77-4E88-BE70-7B4B4CC6C97E}" dt="2026-06-08T21:28:35.772" v="2445" actId="22"/>
          <ac:spMkLst>
            <pc:docMk/>
            <pc:sldMk cId="410801462" sldId="325"/>
            <ac:spMk id="7" creationId="{C4FA90F7-D03D-0394-BD0A-A821F8109290}"/>
          </ac:spMkLst>
        </pc:spChg>
        <pc:picChg chg="del">
          <ac:chgData name="Chris Tatarka" userId="ce46a50798673087" providerId="LiveId" clId="{653BF390-7C77-4E88-BE70-7B4B4CC6C97E}" dt="2026-06-08T21:24:49.671" v="2339" actId="478"/>
          <ac:picMkLst>
            <pc:docMk/>
            <pc:sldMk cId="410801462" sldId="325"/>
            <ac:picMk id="5" creationId="{F1C6AF92-487A-ED0C-ABD7-DF8A69ACCBEE}"/>
          </ac:picMkLst>
        </pc:picChg>
        <pc:picChg chg="add mod modCrop">
          <ac:chgData name="Chris Tatarka" userId="ce46a50798673087" providerId="LiveId" clId="{653BF390-7C77-4E88-BE70-7B4B4CC6C97E}" dt="2026-06-08T21:30:05.309" v="2457" actId="1076"/>
          <ac:picMkLst>
            <pc:docMk/>
            <pc:sldMk cId="410801462" sldId="325"/>
            <ac:picMk id="9" creationId="{AC308284-3367-BF53-0C8C-AEC34E5131E5}"/>
          </ac:picMkLst>
        </pc:picChg>
      </pc:sldChg>
      <pc:sldChg chg="new del">
        <pc:chgData name="Chris Tatarka" userId="ce46a50798673087" providerId="LiveId" clId="{653BF390-7C77-4E88-BE70-7B4B4CC6C97E}" dt="2026-06-08T21:24:03.459" v="2333" actId="680"/>
        <pc:sldMkLst>
          <pc:docMk/>
          <pc:sldMk cId="2506091130" sldId="325"/>
        </pc:sldMkLst>
      </pc:sldChg>
      <pc:sldChg chg="new del">
        <pc:chgData name="Chris Tatarka" userId="ce46a50798673087" providerId="LiveId" clId="{653BF390-7C77-4E88-BE70-7B4B4CC6C97E}" dt="2026-06-08T21:23:57.159" v="2331" actId="47"/>
        <pc:sldMkLst>
          <pc:docMk/>
          <pc:sldMk cId="3979385495" sldId="325"/>
        </pc:sldMkLst>
      </pc:sldChg>
      <pc:sldChg chg="addSp delSp modSp add mod">
        <pc:chgData name="Chris Tatarka" userId="ce46a50798673087" providerId="LiveId" clId="{653BF390-7C77-4E88-BE70-7B4B4CC6C97E}" dt="2026-06-08T22:17:59.232" v="2752" actId="164"/>
        <pc:sldMkLst>
          <pc:docMk/>
          <pc:sldMk cId="3094055244" sldId="326"/>
        </pc:sldMkLst>
        <pc:spChg chg="mod">
          <ac:chgData name="Chris Tatarka" userId="ce46a50798673087" providerId="LiveId" clId="{653BF390-7C77-4E88-BE70-7B4B4CC6C97E}" dt="2026-06-08T22:17:50" v="2751" actId="20577"/>
          <ac:spMkLst>
            <pc:docMk/>
            <pc:sldMk cId="3094055244" sldId="326"/>
            <ac:spMk id="2" creationId="{EE029E3B-E4C1-3621-EECB-0FA3085FDDC7}"/>
          </ac:spMkLst>
        </pc:spChg>
        <pc:spChg chg="add mod">
          <ac:chgData name="Chris Tatarka" userId="ce46a50798673087" providerId="LiveId" clId="{653BF390-7C77-4E88-BE70-7B4B4CC6C97E}" dt="2026-06-08T22:17:29.633" v="2705" actId="1076"/>
          <ac:spMkLst>
            <pc:docMk/>
            <pc:sldMk cId="3094055244" sldId="326"/>
            <ac:spMk id="9" creationId="{6568B0E3-EE0E-F18C-2C6C-63EB20A998E9}"/>
          </ac:spMkLst>
        </pc:spChg>
        <pc:grpChg chg="add mod">
          <ac:chgData name="Chris Tatarka" userId="ce46a50798673087" providerId="LiveId" clId="{653BF390-7C77-4E88-BE70-7B4B4CC6C97E}" dt="2026-06-08T22:17:59.232" v="2752" actId="164"/>
          <ac:grpSpMkLst>
            <pc:docMk/>
            <pc:sldMk cId="3094055244" sldId="326"/>
            <ac:grpSpMk id="11" creationId="{40798E05-AC10-E6E4-4361-46BE6049C89E}"/>
          </ac:grpSpMkLst>
        </pc:grpChg>
        <pc:picChg chg="add mod">
          <ac:chgData name="Chris Tatarka" userId="ce46a50798673087" providerId="LiveId" clId="{653BF390-7C77-4E88-BE70-7B4B4CC6C97E}" dt="2026-06-08T22:17:59.232" v="2752" actId="164"/>
          <ac:picMkLst>
            <pc:docMk/>
            <pc:sldMk cId="3094055244" sldId="326"/>
            <ac:picMk id="4" creationId="{B351EC11-C84E-E5B2-73AD-82C5858F6748}"/>
          </ac:picMkLst>
        </pc:picChg>
        <pc:picChg chg="del">
          <ac:chgData name="Chris Tatarka" userId="ce46a50798673087" providerId="LiveId" clId="{653BF390-7C77-4E88-BE70-7B4B4CC6C97E}" dt="2026-06-08T22:15:37.807" v="2531" actId="478"/>
          <ac:picMkLst>
            <pc:docMk/>
            <pc:sldMk cId="3094055244" sldId="326"/>
            <ac:picMk id="5" creationId="{982CA4C5-7BE5-67A3-69C3-0764E57732C6}"/>
          </ac:picMkLst>
        </pc:picChg>
        <pc:picChg chg="add mod">
          <ac:chgData name="Chris Tatarka" userId="ce46a50798673087" providerId="LiveId" clId="{653BF390-7C77-4E88-BE70-7B4B4CC6C97E}" dt="2026-06-08T22:17:59.232" v="2752" actId="164"/>
          <ac:picMkLst>
            <pc:docMk/>
            <pc:sldMk cId="3094055244" sldId="326"/>
            <ac:picMk id="7" creationId="{92A2FDD5-690E-6555-C1F7-C91C44A70EFA}"/>
          </ac:picMkLst>
        </pc:picChg>
      </pc:sldChg>
      <pc:sldChg chg="new del">
        <pc:chgData name="Chris Tatarka" userId="ce46a50798673087" providerId="LiveId" clId="{653BF390-7C77-4E88-BE70-7B4B4CC6C97E}" dt="2026-06-08T22:14:21.578" v="2478" actId="680"/>
        <pc:sldMkLst>
          <pc:docMk/>
          <pc:sldMk cId="3829947295"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A0AAAB-CFB7-4CA7-819A-50D5164C5985}" type="datetimeFigureOut">
              <a:rPr lang="en-US" smtClean="0"/>
              <a:t>6/8/2026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76E568-2648-4FE3-8B9C-A4899D426554}" type="slidenum">
              <a:rPr lang="en-US" smtClean="0"/>
              <a:t>‹#›</a:t>
            </a:fld>
            <a:endParaRPr lang="en-US" dirty="0"/>
          </a:p>
        </p:txBody>
      </p:sp>
    </p:spTree>
    <p:extLst>
      <p:ext uri="{BB962C8B-B14F-4D97-AF65-F5344CB8AC3E}">
        <p14:creationId xmlns:p14="http://schemas.microsoft.com/office/powerpoint/2010/main" val="2935366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99F68-BA21-865C-92C6-D049CD3AC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3733B-EFEA-E9DD-E47A-05AE5B29459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33A053-08A6-5DA6-DDF9-5B34C2414010}"/>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08B978FF-FF90-C716-4B00-91D1C9B6C4AE}"/>
              </a:ext>
            </a:extLst>
          </p:cNvPr>
          <p:cNvSpPr>
            <a:spLocks noGrp="1"/>
          </p:cNvSpPr>
          <p:nvPr>
            <p:ph type="sldNum" sz="quarter" idx="5"/>
          </p:nvPr>
        </p:nvSpPr>
        <p:spPr/>
      </p:sp>
    </p:spTree>
    <p:extLst>
      <p:ext uri="{BB962C8B-B14F-4D97-AF65-F5344CB8AC3E}">
        <p14:creationId xmlns:p14="http://schemas.microsoft.com/office/powerpoint/2010/main" val="857872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C37C0-012C-4567-0A7F-667A0677A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A9827-5CBE-8671-D62F-1095EAAD24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28538D8-CEBC-2443-A7CA-EA6773E480C5}"/>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FFC2F368-44AD-C2AD-4023-EC5274F7A555}"/>
              </a:ext>
            </a:extLst>
          </p:cNvPr>
          <p:cNvSpPr>
            <a:spLocks noGrp="1"/>
          </p:cNvSpPr>
          <p:nvPr>
            <p:ph type="sldNum" sz="quarter" idx="5"/>
          </p:nvPr>
        </p:nvSpPr>
        <p:spPr/>
      </p:sp>
    </p:spTree>
    <p:extLst>
      <p:ext uri="{BB962C8B-B14F-4D97-AF65-F5344CB8AC3E}">
        <p14:creationId xmlns:p14="http://schemas.microsoft.com/office/powerpoint/2010/main" val="2969902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C90A6-2254-8ED5-03CA-636133E3D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A5B70-5AC5-4715-B3F3-48DB61424C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0D083E-FE68-CD68-3495-C67FC0CBE09E}"/>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24F57911-98A5-0A33-EA2B-C34D26E74AA1}"/>
              </a:ext>
            </a:extLst>
          </p:cNvPr>
          <p:cNvSpPr>
            <a:spLocks noGrp="1"/>
          </p:cNvSpPr>
          <p:nvPr>
            <p:ph type="sldNum" sz="quarter" idx="5"/>
          </p:nvPr>
        </p:nvSpPr>
        <p:spPr/>
      </p:sp>
    </p:spTree>
    <p:extLst>
      <p:ext uri="{BB962C8B-B14F-4D97-AF65-F5344CB8AC3E}">
        <p14:creationId xmlns:p14="http://schemas.microsoft.com/office/powerpoint/2010/main" val="3889698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B05AC-E0BD-61CE-BCDE-D47647071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27A8C-959E-EAB1-160B-105FA1AAA33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1A7484-2CDF-6070-7528-B761B401B034}"/>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2E3D55CF-F334-C4E2-3C95-2CFBA3432E9E}"/>
              </a:ext>
            </a:extLst>
          </p:cNvPr>
          <p:cNvSpPr>
            <a:spLocks noGrp="1"/>
          </p:cNvSpPr>
          <p:nvPr>
            <p:ph type="sldNum" sz="quarter" idx="5"/>
          </p:nvPr>
        </p:nvSpPr>
        <p:spPr/>
      </p:sp>
    </p:spTree>
    <p:extLst>
      <p:ext uri="{BB962C8B-B14F-4D97-AF65-F5344CB8AC3E}">
        <p14:creationId xmlns:p14="http://schemas.microsoft.com/office/powerpoint/2010/main" val="1715486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1ED9-BB05-05B3-0CDF-67A654F48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76534-F279-FC40-EF68-2663A6FE4A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62D98E3-04A6-BFB4-5C09-F599A76218F8}"/>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0850D190-05E6-8FF4-683B-6B1126C77F62}"/>
              </a:ext>
            </a:extLst>
          </p:cNvPr>
          <p:cNvSpPr>
            <a:spLocks noGrp="1"/>
          </p:cNvSpPr>
          <p:nvPr>
            <p:ph type="sldNum" sz="quarter" idx="5"/>
          </p:nvPr>
        </p:nvSpPr>
        <p:spPr/>
      </p:sp>
    </p:spTree>
    <p:extLst>
      <p:ext uri="{BB962C8B-B14F-4D97-AF65-F5344CB8AC3E}">
        <p14:creationId xmlns:p14="http://schemas.microsoft.com/office/powerpoint/2010/main" val="2016498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B8C1A-6FD0-A1A1-0202-5B2201042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94606-1435-E973-E460-F9A91A9B1B8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B40F234-F7D7-0B36-781C-6A74A138E5E1}"/>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3935A451-D2B8-E957-812B-704B4974A638}"/>
              </a:ext>
            </a:extLst>
          </p:cNvPr>
          <p:cNvSpPr>
            <a:spLocks noGrp="1"/>
          </p:cNvSpPr>
          <p:nvPr>
            <p:ph type="sldNum" sz="quarter" idx="5"/>
          </p:nvPr>
        </p:nvSpPr>
        <p:spPr/>
      </p:sp>
    </p:spTree>
    <p:extLst>
      <p:ext uri="{BB962C8B-B14F-4D97-AF65-F5344CB8AC3E}">
        <p14:creationId xmlns:p14="http://schemas.microsoft.com/office/powerpoint/2010/main" val="3792959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02054-AD31-E72B-32A4-0D7935C54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76BBA-1D85-DCE7-F74F-A3D0C39EC9D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91CDCFA-EFF0-81B7-982F-D9BC52757C3D}"/>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7DBAC4B3-97EB-31E3-1B0F-DA088295DDB5}"/>
              </a:ext>
            </a:extLst>
          </p:cNvPr>
          <p:cNvSpPr>
            <a:spLocks noGrp="1"/>
          </p:cNvSpPr>
          <p:nvPr>
            <p:ph type="sldNum" sz="quarter" idx="5"/>
          </p:nvPr>
        </p:nvSpPr>
        <p:spPr/>
      </p:sp>
    </p:spTree>
    <p:extLst>
      <p:ext uri="{BB962C8B-B14F-4D97-AF65-F5344CB8AC3E}">
        <p14:creationId xmlns:p14="http://schemas.microsoft.com/office/powerpoint/2010/main" val="1083189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54975-15DF-5D81-8A60-0CAD118E4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EEC74-3D3E-A58E-0A8E-8FBC14D9F8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1C6AFE7-2448-1329-2444-984D5024E2FA}"/>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56DD2B1A-068E-361B-47A9-04B74A68BADD}"/>
              </a:ext>
            </a:extLst>
          </p:cNvPr>
          <p:cNvSpPr>
            <a:spLocks noGrp="1"/>
          </p:cNvSpPr>
          <p:nvPr>
            <p:ph type="sldNum" sz="quarter" idx="5"/>
          </p:nvPr>
        </p:nvSpPr>
        <p:spPr/>
      </p:sp>
    </p:spTree>
    <p:extLst>
      <p:ext uri="{BB962C8B-B14F-4D97-AF65-F5344CB8AC3E}">
        <p14:creationId xmlns:p14="http://schemas.microsoft.com/office/powerpoint/2010/main" val="3968997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752BA-CAAB-81F4-643C-CD21A64DB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25502-41F5-EC21-3D8C-D986C2E1D51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854D672-604E-05FA-2A8D-10D999292BF4}"/>
              </a:ext>
            </a:extLst>
          </p:cNvPr>
          <p:cNvSpPr>
            <a:spLocks noGrp="1"/>
          </p:cNvSpPr>
          <p:nvPr>
            <p:ph type="body" sz="quarter" idx="3"/>
          </p:nvPr>
        </p:nvSpPr>
        <p:spPr/>
        <p:txBody>
          <a:bodyPr/>
          <a:lstStyle/>
          <a:p>
            <a:r>
              <a:rPr dirty="0"/>
              <a:t>Chapter 1 defines intelligence in multiple ways: process, product, organization. Stress that it has no single definition. Discuss the cycle, main INTs, and key tensions (policy vs intelligence, secrecy vs transparency). Engage students by asking how they’d define intelligence in one sentence.</a:t>
            </a:r>
          </a:p>
        </p:txBody>
      </p:sp>
      <p:sp>
        <p:nvSpPr>
          <p:cNvPr id="4" name="Slide Number Placeholder 3">
            <a:extLst>
              <a:ext uri="{FF2B5EF4-FFF2-40B4-BE49-F238E27FC236}">
                <a16:creationId xmlns:a16="http://schemas.microsoft.com/office/drawing/2014/main" id="{6734ED21-F7BB-20BE-741F-D682271B833F}"/>
              </a:ext>
            </a:extLst>
          </p:cNvPr>
          <p:cNvSpPr>
            <a:spLocks noGrp="1"/>
          </p:cNvSpPr>
          <p:nvPr>
            <p:ph type="sldNum" sz="quarter" idx="5"/>
          </p:nvPr>
        </p:nvSpPr>
        <p:spPr/>
      </p:sp>
    </p:spTree>
    <p:extLst>
      <p:ext uri="{BB962C8B-B14F-4D97-AF65-F5344CB8AC3E}">
        <p14:creationId xmlns:p14="http://schemas.microsoft.com/office/powerpoint/2010/main" val="243735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EA012-3FE6-BC05-5C63-9115F675A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AB0AC-7A6D-0102-2C46-A35F23419F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007E8E-9F5E-DFD7-A07B-6F1B98A9AE3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2E7F89B-B97A-4E82-5A9C-1E053E5F3DD2}"/>
              </a:ext>
            </a:extLst>
          </p:cNvPr>
          <p:cNvSpPr>
            <a:spLocks noGrp="1"/>
          </p:cNvSpPr>
          <p:nvPr>
            <p:ph type="sldNum" sz="quarter" idx="5"/>
          </p:nvPr>
        </p:nvSpPr>
        <p:spPr/>
      </p:sp>
    </p:spTree>
    <p:extLst>
      <p:ext uri="{BB962C8B-B14F-4D97-AF65-F5344CB8AC3E}">
        <p14:creationId xmlns:p14="http://schemas.microsoft.com/office/powerpoint/2010/main" val="1925231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1291493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386957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1472969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3460136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1883753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2407310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2950020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199769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79378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2576710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10D7D-4310-4EE9-9313-A4D0926F1F9B}" type="datetimeFigureOut">
              <a:rPr lang="en-US" smtClean="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ECDE883-BFCA-406E-B283-8C7EE1B848AE}" type="slidenum">
              <a:rPr lang="en-US" smtClean="0"/>
              <a:t>‹#›</a:t>
            </a:fld>
            <a:endParaRPr lang="en-US" dirty="0"/>
          </a:p>
        </p:txBody>
      </p:sp>
    </p:spTree>
    <p:extLst>
      <p:ext uri="{BB962C8B-B14F-4D97-AF65-F5344CB8AC3E}">
        <p14:creationId xmlns:p14="http://schemas.microsoft.com/office/powerpoint/2010/main" val="1973007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810D7D-4310-4EE9-9313-A4D0926F1F9B}" type="datetimeFigureOut">
              <a:rPr lang="en-US" smtClean="0"/>
              <a:t>6/8/2026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CDE883-BFCA-406E-B283-8C7EE1B848AE}" type="slidenum">
              <a:rPr lang="en-US" smtClean="0"/>
              <a:t>‹#›</a:t>
            </a:fld>
            <a:endParaRPr lang="en-US" dirty="0"/>
          </a:p>
        </p:txBody>
      </p:sp>
    </p:spTree>
    <p:extLst>
      <p:ext uri="{BB962C8B-B14F-4D97-AF65-F5344CB8AC3E}">
        <p14:creationId xmlns:p14="http://schemas.microsoft.com/office/powerpoint/2010/main" val="40314366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mailto:christopher.tatarka@metrostate.edu"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3C6F4E6-30A1-4F63-C8CC-028750B5A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6668" cy="4570886"/>
            <a:chOff x="0" y="0"/>
            <a:chExt cx="12196668" cy="4570886"/>
          </a:xfrm>
        </p:grpSpPr>
        <p:sp>
          <p:nvSpPr>
            <p:cNvPr id="8" name="Rectangle 7">
              <a:extLst>
                <a:ext uri="{FF2B5EF4-FFF2-40B4-BE49-F238E27FC236}">
                  <a16:creationId xmlns:a16="http://schemas.microsoft.com/office/drawing/2014/main" id="{49EA7CA8-3AE6-4F5F-9932-63303CF2D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12196668" cy="4570632"/>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6E3E019-A259-1130-CC5C-3165020BC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91"/>
              <a:ext cx="10565988" cy="4568095"/>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0769F99-CCA6-5CDC-D1E1-C59A4762F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2192000" cy="4549891"/>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13E73D3-029B-3D4E-1956-8EE7068A6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0544" y="18215"/>
              <a:ext cx="8086124" cy="454988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sp>
        <p:nvSpPr>
          <p:cNvPr id="2" name="Title 1">
            <a:extLst>
              <a:ext uri="{FF2B5EF4-FFF2-40B4-BE49-F238E27FC236}">
                <a16:creationId xmlns:a16="http://schemas.microsoft.com/office/drawing/2014/main" id="{9C87B58C-CC99-CF60-EFD0-3867255BFB65}"/>
              </a:ext>
            </a:extLst>
          </p:cNvPr>
          <p:cNvSpPr>
            <a:spLocks noGrp="1"/>
          </p:cNvSpPr>
          <p:nvPr>
            <p:ph type="ctrTitle"/>
          </p:nvPr>
        </p:nvSpPr>
        <p:spPr>
          <a:xfrm>
            <a:off x="2286933" y="558701"/>
            <a:ext cx="8017652" cy="2690413"/>
          </a:xfrm>
        </p:spPr>
        <p:txBody>
          <a:bodyPr anchor="t">
            <a:normAutofit/>
          </a:bodyPr>
          <a:lstStyle/>
          <a:p>
            <a:r>
              <a:rPr lang="en-US" sz="5400" dirty="0">
                <a:solidFill>
                  <a:srgbClr val="FFFFFF"/>
                </a:solidFill>
              </a:rPr>
              <a:t>Intelligence, Analysis, and Decision-Making</a:t>
            </a:r>
          </a:p>
        </p:txBody>
      </p:sp>
      <p:sp>
        <p:nvSpPr>
          <p:cNvPr id="3" name="Subtitle 2">
            <a:extLst>
              <a:ext uri="{FF2B5EF4-FFF2-40B4-BE49-F238E27FC236}">
                <a16:creationId xmlns:a16="http://schemas.microsoft.com/office/drawing/2014/main" id="{1084B5AD-312E-B51E-A87F-55A4A87C7970}"/>
              </a:ext>
            </a:extLst>
          </p:cNvPr>
          <p:cNvSpPr>
            <a:spLocks noGrp="1"/>
          </p:cNvSpPr>
          <p:nvPr>
            <p:ph type="subTitle" idx="1"/>
          </p:nvPr>
        </p:nvSpPr>
        <p:spPr>
          <a:xfrm>
            <a:off x="3271671" y="5124013"/>
            <a:ext cx="6481746" cy="1199733"/>
          </a:xfrm>
        </p:spPr>
        <p:txBody>
          <a:bodyPr anchor="ctr">
            <a:normAutofit/>
          </a:bodyPr>
          <a:lstStyle/>
          <a:p>
            <a:r>
              <a:rPr lang="en-US" sz="2000" b="1" dirty="0"/>
              <a:t>Chris Tatarka, Ph.D</a:t>
            </a:r>
            <a:r>
              <a:rPr lang="en-US" sz="2000" dirty="0"/>
              <a:t>.</a:t>
            </a:r>
          </a:p>
        </p:txBody>
      </p:sp>
      <p:pic>
        <p:nvPicPr>
          <p:cNvPr id="5" name="Picture 4">
            <a:extLst>
              <a:ext uri="{FF2B5EF4-FFF2-40B4-BE49-F238E27FC236}">
                <a16:creationId xmlns:a16="http://schemas.microsoft.com/office/drawing/2014/main" id="{0D0D4AA7-4767-A1AE-BAA2-B95562AE1F2D}"/>
              </a:ext>
            </a:extLst>
          </p:cNvPr>
          <p:cNvPicPr>
            <a:picLocks noChangeAspect="1"/>
          </p:cNvPicPr>
          <p:nvPr/>
        </p:nvPicPr>
        <p:blipFill>
          <a:blip r:embed="rId2"/>
          <a:stretch>
            <a:fillRect/>
          </a:stretch>
        </p:blipFill>
        <p:spPr>
          <a:xfrm>
            <a:off x="2115587" y="3088266"/>
            <a:ext cx="3000375" cy="352543"/>
          </a:xfrm>
          <a:prstGeom prst="rect">
            <a:avLst/>
          </a:prstGeom>
        </p:spPr>
      </p:pic>
      <p:pic>
        <p:nvPicPr>
          <p:cNvPr id="6" name="Picture 5">
            <a:extLst>
              <a:ext uri="{FF2B5EF4-FFF2-40B4-BE49-F238E27FC236}">
                <a16:creationId xmlns:a16="http://schemas.microsoft.com/office/drawing/2014/main" id="{252E1DBB-C064-7F3A-93F5-838BBE8E998B}"/>
              </a:ext>
            </a:extLst>
          </p:cNvPr>
          <p:cNvPicPr>
            <a:picLocks noChangeAspect="1"/>
          </p:cNvPicPr>
          <p:nvPr/>
        </p:nvPicPr>
        <p:blipFill>
          <a:blip r:embed="rId3"/>
          <a:srcRect t="5093"/>
          <a:stretch>
            <a:fillRect/>
          </a:stretch>
        </p:blipFill>
        <p:spPr>
          <a:xfrm>
            <a:off x="7171234" y="2737856"/>
            <a:ext cx="2090457" cy="102251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138453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A189E9-72BD-561C-6AFD-96FE5A1237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B4D323-C210-7525-6EDC-486006453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93547E3-5268-0E24-49A4-37BD200CC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4AFDE0F-287C-AF61-2CC4-8965B5350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9CD421F-9E53-082A-71CA-8034926D9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07F2205-DA0D-BDC1-6C6B-53698CBC2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DDE66E-A9AF-6141-80EA-254A4B52B756}"/>
              </a:ext>
            </a:extLst>
          </p:cNvPr>
          <p:cNvSpPr>
            <a:spLocks noGrp="1"/>
          </p:cNvSpPr>
          <p:nvPr>
            <p:ph type="title"/>
          </p:nvPr>
        </p:nvSpPr>
        <p:spPr>
          <a:xfrm>
            <a:off x="1371599" y="294538"/>
            <a:ext cx="9895951" cy="1033669"/>
          </a:xfrm>
        </p:spPr>
        <p:txBody>
          <a:bodyPr>
            <a:normAutofit/>
          </a:bodyPr>
          <a:lstStyle/>
          <a:p>
            <a:endParaRPr lang="en-US" sz="4000" dirty="0">
              <a:solidFill>
                <a:srgbClr val="FFFFFF"/>
              </a:solidFill>
            </a:endParaRPr>
          </a:p>
        </p:txBody>
      </p:sp>
      <p:pic>
        <p:nvPicPr>
          <p:cNvPr id="5" name="Picture 4">
            <a:extLst>
              <a:ext uri="{FF2B5EF4-FFF2-40B4-BE49-F238E27FC236}">
                <a16:creationId xmlns:a16="http://schemas.microsoft.com/office/drawing/2014/main" id="{E0E8C239-DA99-6B6F-8332-585B37CE308C}"/>
              </a:ext>
            </a:extLst>
          </p:cNvPr>
          <p:cNvPicPr>
            <a:picLocks noChangeAspect="1"/>
          </p:cNvPicPr>
          <p:nvPr/>
        </p:nvPicPr>
        <p:blipFill>
          <a:blip r:embed="rId2"/>
          <a:stretch>
            <a:fillRect/>
          </a:stretch>
        </p:blipFill>
        <p:spPr>
          <a:xfrm>
            <a:off x="2049168" y="2168101"/>
            <a:ext cx="7706801" cy="4105848"/>
          </a:xfrm>
          <a:prstGeom prst="rect">
            <a:avLst/>
          </a:prstGeom>
          <a:ln w="28575">
            <a:solidFill>
              <a:schemeClr val="tx1"/>
            </a:solidFill>
          </a:ln>
        </p:spPr>
      </p:pic>
    </p:spTree>
    <p:extLst>
      <p:ext uri="{BB962C8B-B14F-4D97-AF65-F5344CB8AC3E}">
        <p14:creationId xmlns:p14="http://schemas.microsoft.com/office/powerpoint/2010/main" val="4056266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FDCFB6-8C66-9950-42A0-206A13698E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400892E-9380-5FFA-E797-BE9B9C5D9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A175238-CA17-3F55-919C-55F069891D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047F4C5-801C-35BC-6C6A-868B04CC3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4BC5FAD-F961-28EE-542D-65E5BA2E4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A465A5-A88E-AE2F-B38D-471D00741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50CDD6-ED23-1986-7812-6ACDCABCBC82}"/>
              </a:ext>
            </a:extLst>
          </p:cNvPr>
          <p:cNvSpPr>
            <a:spLocks noGrp="1"/>
          </p:cNvSpPr>
          <p:nvPr>
            <p:ph type="title"/>
          </p:nvPr>
        </p:nvSpPr>
        <p:spPr>
          <a:xfrm>
            <a:off x="1371599" y="294538"/>
            <a:ext cx="9895951" cy="1033669"/>
          </a:xfrm>
        </p:spPr>
        <p:txBody>
          <a:bodyPr>
            <a:normAutofit/>
          </a:bodyPr>
          <a:lstStyle/>
          <a:p>
            <a:endParaRPr lang="en-US" sz="4000" dirty="0">
              <a:solidFill>
                <a:srgbClr val="FFFFFF"/>
              </a:solidFill>
            </a:endParaRPr>
          </a:p>
        </p:txBody>
      </p:sp>
      <p:pic>
        <p:nvPicPr>
          <p:cNvPr id="3" name="Picture 2">
            <a:extLst>
              <a:ext uri="{FF2B5EF4-FFF2-40B4-BE49-F238E27FC236}">
                <a16:creationId xmlns:a16="http://schemas.microsoft.com/office/drawing/2014/main" id="{E7FC2E3A-70CD-D14C-9644-9EBFFC83B599}"/>
              </a:ext>
            </a:extLst>
          </p:cNvPr>
          <p:cNvPicPr>
            <a:picLocks noChangeAspect="1"/>
          </p:cNvPicPr>
          <p:nvPr/>
        </p:nvPicPr>
        <p:blipFill>
          <a:blip r:embed="rId2"/>
          <a:stretch>
            <a:fillRect/>
          </a:stretch>
        </p:blipFill>
        <p:spPr>
          <a:xfrm>
            <a:off x="1371599" y="1638341"/>
            <a:ext cx="8932986" cy="5219659"/>
          </a:xfrm>
          <a:prstGeom prst="rect">
            <a:avLst/>
          </a:prstGeom>
        </p:spPr>
      </p:pic>
    </p:spTree>
    <p:extLst>
      <p:ext uri="{BB962C8B-B14F-4D97-AF65-F5344CB8AC3E}">
        <p14:creationId xmlns:p14="http://schemas.microsoft.com/office/powerpoint/2010/main" val="549946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142C1F0-73B6-48B6-7ABC-BCF14D88C5C9}"/>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Uncertainty in Decision Making</a:t>
            </a:r>
          </a:p>
        </p:txBody>
      </p:sp>
      <p:pic>
        <p:nvPicPr>
          <p:cNvPr id="15" name="Picture 14">
            <a:extLst>
              <a:ext uri="{FF2B5EF4-FFF2-40B4-BE49-F238E27FC236}">
                <a16:creationId xmlns:a16="http://schemas.microsoft.com/office/drawing/2014/main" id="{9F257140-F3D5-6BAE-ED1B-A7EF7DBE44AA}"/>
              </a:ext>
            </a:extLst>
          </p:cNvPr>
          <p:cNvPicPr>
            <a:picLocks noChangeAspect="1"/>
          </p:cNvPicPr>
          <p:nvPr/>
        </p:nvPicPr>
        <p:blipFill>
          <a:blip r:embed="rId2"/>
          <a:stretch>
            <a:fillRect/>
          </a:stretch>
        </p:blipFill>
        <p:spPr>
          <a:xfrm>
            <a:off x="267372" y="2107848"/>
            <a:ext cx="7698459" cy="169042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8" name="Picture 17">
            <a:extLst>
              <a:ext uri="{FF2B5EF4-FFF2-40B4-BE49-F238E27FC236}">
                <a16:creationId xmlns:a16="http://schemas.microsoft.com/office/drawing/2014/main" id="{ACABC193-D535-B1D7-A71B-E8AEAF48F3F7}"/>
              </a:ext>
            </a:extLst>
          </p:cNvPr>
          <p:cNvPicPr>
            <a:picLocks noChangeAspect="1"/>
          </p:cNvPicPr>
          <p:nvPr/>
        </p:nvPicPr>
        <p:blipFill>
          <a:blip r:embed="rId3"/>
          <a:stretch>
            <a:fillRect/>
          </a:stretch>
        </p:blipFill>
        <p:spPr>
          <a:xfrm>
            <a:off x="8882647" y="2848334"/>
            <a:ext cx="2268769" cy="2175532"/>
          </a:xfrm>
          <a:prstGeom prst="rect">
            <a:avLst/>
          </a:prstGeom>
        </p:spPr>
      </p:pic>
      <p:pic>
        <p:nvPicPr>
          <p:cNvPr id="20" name="Picture 19">
            <a:extLst>
              <a:ext uri="{FF2B5EF4-FFF2-40B4-BE49-F238E27FC236}">
                <a16:creationId xmlns:a16="http://schemas.microsoft.com/office/drawing/2014/main" id="{70E5D06F-6AA7-4CBB-0822-BF907BC79EB8}"/>
              </a:ext>
            </a:extLst>
          </p:cNvPr>
          <p:cNvPicPr>
            <a:picLocks noChangeAspect="1"/>
          </p:cNvPicPr>
          <p:nvPr/>
        </p:nvPicPr>
        <p:blipFill>
          <a:blip r:embed="rId4"/>
          <a:stretch>
            <a:fillRect/>
          </a:stretch>
        </p:blipFill>
        <p:spPr>
          <a:xfrm>
            <a:off x="273236" y="4367902"/>
            <a:ext cx="7568827" cy="131192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669483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57760A-61C1-2AE7-BFA5-BCE329119C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F01772-6A11-4AD1-966A-DCB9D7053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562EF68-7AFC-8B23-3E50-D1E70A4C8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CCBBAC9-2081-270F-C95A-D908E4EF3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748E6FF-A2D9-A064-C06A-576BA307D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5727D21-8E34-2331-52E8-16D4D8CE2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D04D8D-EC11-0CE4-8278-97C60BF1709C}"/>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Two Questions:</a:t>
            </a:r>
          </a:p>
        </p:txBody>
      </p:sp>
      <p:pic>
        <p:nvPicPr>
          <p:cNvPr id="18" name="Picture 17">
            <a:extLst>
              <a:ext uri="{FF2B5EF4-FFF2-40B4-BE49-F238E27FC236}">
                <a16:creationId xmlns:a16="http://schemas.microsoft.com/office/drawing/2014/main" id="{DA8EAD9E-5E8B-EC27-4EFF-92D1BC09CD79}"/>
              </a:ext>
            </a:extLst>
          </p:cNvPr>
          <p:cNvPicPr>
            <a:picLocks noChangeAspect="1"/>
          </p:cNvPicPr>
          <p:nvPr/>
        </p:nvPicPr>
        <p:blipFill>
          <a:blip r:embed="rId2"/>
          <a:stretch>
            <a:fillRect/>
          </a:stretch>
        </p:blipFill>
        <p:spPr>
          <a:xfrm>
            <a:off x="9463880" y="2947047"/>
            <a:ext cx="2268769" cy="2175532"/>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15EE5B7C-296A-4011-A20F-977148DF12AF}"/>
              </a:ext>
            </a:extLst>
          </p:cNvPr>
          <p:cNvSpPr txBox="1"/>
          <p:nvPr/>
        </p:nvSpPr>
        <p:spPr>
          <a:xfrm>
            <a:off x="459351" y="2514599"/>
            <a:ext cx="8332958" cy="3539430"/>
          </a:xfrm>
          <a:prstGeom prst="rect">
            <a:avLst/>
          </a:prstGeom>
          <a:noFill/>
        </p:spPr>
        <p:txBody>
          <a:bodyPr wrap="square" rtlCol="0">
            <a:spAutoFit/>
          </a:bodyPr>
          <a:lstStyle/>
          <a:p>
            <a:r>
              <a:rPr lang="en-US" sz="3200" b="1" dirty="0"/>
              <a:t>Which type of weapon(s) were used in the attack on the airport and did they come from Iran?</a:t>
            </a:r>
          </a:p>
          <a:p>
            <a:endParaRPr lang="en-US" sz="3200" b="1" dirty="0"/>
          </a:p>
          <a:p>
            <a:endParaRPr lang="en-US" sz="3200" b="1" dirty="0"/>
          </a:p>
          <a:p>
            <a:r>
              <a:rPr lang="en-US" sz="3200" b="1" dirty="0"/>
              <a:t>Will Iran attack other military or civilian targets in the next  72 hours?</a:t>
            </a:r>
          </a:p>
        </p:txBody>
      </p:sp>
    </p:spTree>
    <p:extLst>
      <p:ext uri="{BB962C8B-B14F-4D97-AF65-F5344CB8AC3E}">
        <p14:creationId xmlns:p14="http://schemas.microsoft.com/office/powerpoint/2010/main" val="174334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166FA6-8E43-9287-7FD1-2A4D8D732B7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4BF12-F0D9-1674-6577-338A731C4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C24FAFD-4112-D542-755C-CC411C5A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B00B865-17C9-4E67-8064-F31665E78D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939FB23-9D08-2FEE-24DB-5A6B12D59C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B5DEE13-B673-4777-02FD-7868EA54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39F593-5E18-19EA-62F6-0056EF21264D}"/>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Which is “easier” to Answer &amp; Why?</a:t>
            </a:r>
          </a:p>
        </p:txBody>
      </p:sp>
      <p:pic>
        <p:nvPicPr>
          <p:cNvPr id="5" name="Picture 4">
            <a:extLst>
              <a:ext uri="{FF2B5EF4-FFF2-40B4-BE49-F238E27FC236}">
                <a16:creationId xmlns:a16="http://schemas.microsoft.com/office/drawing/2014/main" id="{B0C0BBD8-2BFF-C75A-A059-D2F1CBF7BD3D}"/>
              </a:ext>
            </a:extLst>
          </p:cNvPr>
          <p:cNvPicPr>
            <a:picLocks noChangeAspect="1"/>
          </p:cNvPicPr>
          <p:nvPr/>
        </p:nvPicPr>
        <p:blipFill>
          <a:blip r:embed="rId2"/>
          <a:stretch>
            <a:fillRect/>
          </a:stretch>
        </p:blipFill>
        <p:spPr>
          <a:xfrm>
            <a:off x="4255477" y="1885279"/>
            <a:ext cx="7406875" cy="403323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506966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D31C59-CB46-D369-4DE3-2CEB76D6E1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DB004D-3FA0-47AD-7C24-040F0CC3E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063DE09-852A-F0DF-1DD0-C499F45F4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9C434B3-639F-CF0F-F324-069FCDE6B4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DD7E9AA-B780-DF5A-1213-C307DC0EC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597699F-8358-10E1-CFD7-81C1C4433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029E3B-E4C1-3621-EECB-0FA3085FDDC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How About a Question a Bit Closer to Home?</a:t>
            </a:r>
          </a:p>
        </p:txBody>
      </p:sp>
      <p:grpSp>
        <p:nvGrpSpPr>
          <p:cNvPr id="11" name="Group 10">
            <a:extLst>
              <a:ext uri="{FF2B5EF4-FFF2-40B4-BE49-F238E27FC236}">
                <a16:creationId xmlns:a16="http://schemas.microsoft.com/office/drawing/2014/main" id="{40798E05-AC10-E6E4-4361-46BE6049C89E}"/>
              </a:ext>
            </a:extLst>
          </p:cNvPr>
          <p:cNvGrpSpPr/>
          <p:nvPr/>
        </p:nvGrpSpPr>
        <p:grpSpPr>
          <a:xfrm>
            <a:off x="391617" y="1622744"/>
            <a:ext cx="10770986" cy="2157947"/>
            <a:chOff x="391617" y="1622744"/>
            <a:chExt cx="10770986" cy="2157947"/>
          </a:xfrm>
        </p:grpSpPr>
        <p:pic>
          <p:nvPicPr>
            <p:cNvPr id="4" name="Picture 3">
              <a:extLst>
                <a:ext uri="{FF2B5EF4-FFF2-40B4-BE49-F238E27FC236}">
                  <a16:creationId xmlns:a16="http://schemas.microsoft.com/office/drawing/2014/main" id="{B351EC11-C84E-E5B2-73AD-82C5858F6748}"/>
                </a:ext>
              </a:extLst>
            </p:cNvPr>
            <p:cNvPicPr>
              <a:picLocks noChangeAspect="1"/>
            </p:cNvPicPr>
            <p:nvPr/>
          </p:nvPicPr>
          <p:blipFill>
            <a:blip r:embed="rId2"/>
            <a:stretch>
              <a:fillRect/>
            </a:stretch>
          </p:blipFill>
          <p:spPr>
            <a:xfrm>
              <a:off x="2788959" y="1622744"/>
              <a:ext cx="8373644" cy="2157947"/>
            </a:xfrm>
            <a:prstGeom prst="rect">
              <a:avLst/>
            </a:prstGeom>
          </p:spPr>
        </p:pic>
        <p:pic>
          <p:nvPicPr>
            <p:cNvPr id="7" name="Picture 6">
              <a:extLst>
                <a:ext uri="{FF2B5EF4-FFF2-40B4-BE49-F238E27FC236}">
                  <a16:creationId xmlns:a16="http://schemas.microsoft.com/office/drawing/2014/main" id="{92A2FDD5-690E-6555-C1F7-C91C44A70EFA}"/>
                </a:ext>
              </a:extLst>
            </p:cNvPr>
            <p:cNvPicPr>
              <a:picLocks noChangeAspect="1"/>
            </p:cNvPicPr>
            <p:nvPr/>
          </p:nvPicPr>
          <p:blipFill>
            <a:blip r:embed="rId3"/>
            <a:stretch>
              <a:fillRect/>
            </a:stretch>
          </p:blipFill>
          <p:spPr>
            <a:xfrm>
              <a:off x="391617" y="2053583"/>
              <a:ext cx="1609950" cy="1110273"/>
            </a:xfrm>
            <a:prstGeom prst="rect">
              <a:avLst/>
            </a:prstGeom>
          </p:spPr>
        </p:pic>
      </p:grpSp>
      <p:sp>
        <p:nvSpPr>
          <p:cNvPr id="9" name="TextBox 8">
            <a:extLst>
              <a:ext uri="{FF2B5EF4-FFF2-40B4-BE49-F238E27FC236}">
                <a16:creationId xmlns:a16="http://schemas.microsoft.com/office/drawing/2014/main" id="{6568B0E3-EE0E-F18C-2C6C-63EB20A998E9}"/>
              </a:ext>
            </a:extLst>
          </p:cNvPr>
          <p:cNvSpPr txBox="1"/>
          <p:nvPr/>
        </p:nvSpPr>
        <p:spPr>
          <a:xfrm>
            <a:off x="167323" y="4758202"/>
            <a:ext cx="11857349" cy="954107"/>
          </a:xfrm>
          <a:prstGeom prst="rect">
            <a:avLst/>
          </a:prstGeom>
          <a:noFill/>
        </p:spPr>
        <p:txBody>
          <a:bodyPr wrap="none" rtlCol="0">
            <a:spAutoFit/>
          </a:bodyPr>
          <a:lstStyle/>
          <a:p>
            <a:pPr algn="ctr"/>
            <a:r>
              <a:rPr lang="en-US" sz="2800" b="1" dirty="0">
                <a:solidFill>
                  <a:srgbClr val="FF0000"/>
                </a:solidFill>
              </a:rPr>
              <a:t>Will car thefts increase, decrease or remain the same for June-Dec 2026</a:t>
            </a:r>
          </a:p>
          <a:p>
            <a:pPr algn="ctr"/>
            <a:r>
              <a:rPr lang="en-US" sz="2800" b="1" dirty="0">
                <a:solidFill>
                  <a:srgbClr val="FF0000"/>
                </a:solidFill>
              </a:rPr>
              <a:t> in the Twin Cities Metro???</a:t>
            </a:r>
          </a:p>
        </p:txBody>
      </p:sp>
    </p:spTree>
    <p:extLst>
      <p:ext uri="{BB962C8B-B14F-4D97-AF65-F5344CB8AC3E}">
        <p14:creationId xmlns:p14="http://schemas.microsoft.com/office/powerpoint/2010/main" val="3094055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793168-5D44-FE0D-CEE5-28F67F83E1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CEA494-4667-6777-A79B-92A543D91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217C1DC-6ABD-09EA-0326-E4E26B53F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88B3FE0-42AF-3A67-17C7-44A2CF155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248E8BF-4146-BE5F-05D4-6D96189E6F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B8EC99D-BD50-DEFB-BEBB-CC7472E149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E98A42A-780C-6B6B-828D-1B1D1CA935E0}"/>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The United States Intelligence Community</a:t>
            </a:r>
          </a:p>
        </p:txBody>
      </p:sp>
      <p:pic>
        <p:nvPicPr>
          <p:cNvPr id="3" name="Picture 2">
            <a:extLst>
              <a:ext uri="{FF2B5EF4-FFF2-40B4-BE49-F238E27FC236}">
                <a16:creationId xmlns:a16="http://schemas.microsoft.com/office/drawing/2014/main" id="{1D0A64C6-5E0F-2424-DE68-2D3C8D7A8212}"/>
              </a:ext>
            </a:extLst>
          </p:cNvPr>
          <p:cNvPicPr>
            <a:picLocks noChangeAspect="1"/>
          </p:cNvPicPr>
          <p:nvPr/>
        </p:nvPicPr>
        <p:blipFill>
          <a:blip r:embed="rId2"/>
          <a:stretch>
            <a:fillRect/>
          </a:stretch>
        </p:blipFill>
        <p:spPr>
          <a:xfrm>
            <a:off x="3710353" y="1824312"/>
            <a:ext cx="5256689" cy="4615629"/>
          </a:xfrm>
          <a:prstGeom prst="rect">
            <a:avLst/>
          </a:prstGeom>
        </p:spPr>
      </p:pic>
    </p:spTree>
    <p:extLst>
      <p:ext uri="{BB962C8B-B14F-4D97-AF65-F5344CB8AC3E}">
        <p14:creationId xmlns:p14="http://schemas.microsoft.com/office/powerpoint/2010/main" val="164780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8013A-3127-25C7-EF1F-C0F0DB2C001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4EDFA9-570F-ADFA-7D21-9C77A0ADE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F484151-BDF7-71A9-E87A-F40F218BC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BBE74E7-CBC5-0083-D557-42E83070D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C2B4EDF-B62A-0938-D8BF-274ECCF0F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D036CD3-ABE0-6FCE-79B9-74408CB1B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0D7896-F0A2-3DDB-26C9-094E8E20B722}"/>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The United States Intelligence Community</a:t>
            </a:r>
          </a:p>
        </p:txBody>
      </p:sp>
      <p:pic>
        <p:nvPicPr>
          <p:cNvPr id="3" name="Picture 2">
            <a:extLst>
              <a:ext uri="{FF2B5EF4-FFF2-40B4-BE49-F238E27FC236}">
                <a16:creationId xmlns:a16="http://schemas.microsoft.com/office/drawing/2014/main" id="{F28A3951-5D06-96FD-BCB2-1C361AA8B2ED}"/>
              </a:ext>
            </a:extLst>
          </p:cNvPr>
          <p:cNvPicPr>
            <a:picLocks noChangeAspect="1"/>
          </p:cNvPicPr>
          <p:nvPr/>
        </p:nvPicPr>
        <p:blipFill>
          <a:blip r:embed="rId2"/>
          <a:stretch>
            <a:fillRect/>
          </a:stretch>
        </p:blipFill>
        <p:spPr>
          <a:xfrm>
            <a:off x="3638548" y="1124129"/>
            <a:ext cx="4914899" cy="4315520"/>
          </a:xfrm>
          <a:prstGeom prst="rect">
            <a:avLst/>
          </a:prstGeom>
          <a:ln>
            <a:noFill/>
          </a:ln>
          <a:effectLst>
            <a:softEdge rad="112500"/>
          </a:effectLst>
        </p:spPr>
      </p:pic>
      <p:sp>
        <p:nvSpPr>
          <p:cNvPr id="4" name="TextBox 3">
            <a:extLst>
              <a:ext uri="{FF2B5EF4-FFF2-40B4-BE49-F238E27FC236}">
                <a16:creationId xmlns:a16="http://schemas.microsoft.com/office/drawing/2014/main" id="{19860402-031C-489E-C676-EE11EC1DACA6}"/>
              </a:ext>
            </a:extLst>
          </p:cNvPr>
          <p:cNvSpPr txBox="1"/>
          <p:nvPr/>
        </p:nvSpPr>
        <p:spPr>
          <a:xfrm>
            <a:off x="597572" y="5439649"/>
            <a:ext cx="10996849" cy="1323439"/>
          </a:xfrm>
          <a:prstGeom prst="rect">
            <a:avLst/>
          </a:prstGeom>
          <a:noFill/>
        </p:spPr>
        <p:txBody>
          <a:bodyPr wrap="square" rtlCol="0">
            <a:spAutoFit/>
          </a:bodyPr>
          <a:lstStyle/>
          <a:p>
            <a:pPr algn="ctr"/>
            <a:r>
              <a:rPr lang="en-US" sz="2000" b="1" dirty="0"/>
              <a:t>-The U.S. Intelligence Community is a network of 18 organizations that collect, analyze, and share intelligence to support national security.</a:t>
            </a:r>
          </a:p>
          <a:p>
            <a:pPr algn="ctr"/>
            <a:endParaRPr lang="en-US" sz="2000" b="1" dirty="0"/>
          </a:p>
          <a:p>
            <a:pPr algn="ctr"/>
            <a:r>
              <a:rPr lang="en-US" sz="2000" b="1" dirty="0"/>
              <a:t>- Employs &gt;100,000+ people and operates with an annual budget of &gt;$100 billion.</a:t>
            </a:r>
            <a:r>
              <a:rPr lang="en-US" dirty="0"/>
              <a:t> </a:t>
            </a:r>
          </a:p>
        </p:txBody>
      </p:sp>
    </p:spTree>
    <p:extLst>
      <p:ext uri="{BB962C8B-B14F-4D97-AF65-F5344CB8AC3E}">
        <p14:creationId xmlns:p14="http://schemas.microsoft.com/office/powerpoint/2010/main" val="2364875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9" y="294538"/>
            <a:ext cx="9895951" cy="1033669"/>
          </a:xfrm>
        </p:spPr>
        <p:txBody>
          <a:bodyPr>
            <a:normAutofit/>
          </a:bodyPr>
          <a:lstStyle/>
          <a:p>
            <a:r>
              <a:rPr lang="en-US" sz="4000" dirty="0">
                <a:solidFill>
                  <a:srgbClr val="FFFFFF"/>
                </a:solidFill>
              </a:rPr>
              <a:t>What is “Intelligence”?</a:t>
            </a:r>
          </a:p>
        </p:txBody>
      </p:sp>
      <p:sp>
        <p:nvSpPr>
          <p:cNvPr id="3" name="Content Placeholder 2"/>
          <p:cNvSpPr>
            <a:spLocks noGrp="1"/>
          </p:cNvSpPr>
          <p:nvPr>
            <p:ph idx="1"/>
          </p:nvPr>
        </p:nvSpPr>
        <p:spPr>
          <a:xfrm>
            <a:off x="304433" y="1216944"/>
            <a:ext cx="11583129" cy="4424111"/>
          </a:xfrm>
        </p:spPr>
        <p:txBody>
          <a:bodyPr anchor="ctr">
            <a:normAutofit/>
          </a:bodyPr>
          <a:lstStyle/>
          <a:p>
            <a:pPr>
              <a:buFont typeface="Wingdings" panose="05000000000000000000" pitchFamily="2" charset="2"/>
              <a:buChar char="§"/>
            </a:pPr>
            <a:r>
              <a:rPr lang="en-US" sz="3200" dirty="0"/>
              <a:t> Richelson (paraphrased): </a:t>
            </a:r>
          </a:p>
          <a:p>
            <a:pPr lvl="1">
              <a:buFont typeface="Wingdings" panose="05000000000000000000" pitchFamily="2" charset="2"/>
              <a:buChar char="§"/>
            </a:pPr>
            <a:r>
              <a:rPr lang="en-US" sz="3200" dirty="0"/>
              <a:t>Intelligence is information that is collected, processed and narrowed to meet the needs of policy or decision makers</a:t>
            </a:r>
          </a:p>
          <a:p>
            <a:pPr lvl="1">
              <a:buFont typeface="Wingdings" panose="05000000000000000000" pitchFamily="2" charset="2"/>
              <a:buChar char="§"/>
            </a:pPr>
            <a:endParaRPr lang="en-US" sz="3200" dirty="0"/>
          </a:p>
          <a:p>
            <a:pPr>
              <a:buFont typeface="Wingdings" panose="05000000000000000000" pitchFamily="2" charset="2"/>
              <a:buChar char="§"/>
            </a:pPr>
            <a:endParaRPr lang="en-US" sz="3600" dirty="0"/>
          </a:p>
          <a:p>
            <a:pPr>
              <a:buFont typeface="Wingdings" panose="05000000000000000000" pitchFamily="2" charset="2"/>
              <a:buChar char="§"/>
            </a:pPr>
            <a:r>
              <a:rPr lang="en-US" dirty="0"/>
              <a:t>Note: “Intelligence” is different from “information”  which is different from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26BF4B-7312-4E53-7B49-E4DAB06C30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7102DE-F80C-5046-AA02-9044AD130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A844097-6276-980B-DABC-6C067065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2F5ED8F-4DA0-C935-AD86-C6A54A777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8CFFF5-4F34-945E-C54C-2CFC99B949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1E1E61B-FE54-6B42-4FA2-7D9F7DEC2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38E8C8-A6AF-20C8-015E-A06760F427BD}"/>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What is “Intelligence”?</a:t>
            </a:r>
          </a:p>
        </p:txBody>
      </p:sp>
      <p:sp>
        <p:nvSpPr>
          <p:cNvPr id="3" name="Content Placeholder 2">
            <a:extLst>
              <a:ext uri="{FF2B5EF4-FFF2-40B4-BE49-F238E27FC236}">
                <a16:creationId xmlns:a16="http://schemas.microsoft.com/office/drawing/2014/main" id="{3B63C4E0-93C8-47A7-91CC-89A42C21A6AA}"/>
              </a:ext>
            </a:extLst>
          </p:cNvPr>
          <p:cNvSpPr>
            <a:spLocks noGrp="1"/>
          </p:cNvSpPr>
          <p:nvPr>
            <p:ph idx="1"/>
          </p:nvPr>
        </p:nvSpPr>
        <p:spPr>
          <a:xfrm>
            <a:off x="304433" y="1216944"/>
            <a:ext cx="11583129" cy="4424111"/>
          </a:xfrm>
        </p:spPr>
        <p:txBody>
          <a:bodyPr anchor="ctr">
            <a:normAutofit/>
          </a:bodyPr>
          <a:lstStyle/>
          <a:p>
            <a:pPr>
              <a:buFont typeface="Wingdings" panose="05000000000000000000" pitchFamily="2" charset="2"/>
              <a:buChar char="§"/>
            </a:pPr>
            <a:r>
              <a:rPr lang="en-US" sz="3200" dirty="0"/>
              <a:t> Richelson (paraphrased): </a:t>
            </a:r>
          </a:p>
          <a:p>
            <a:pPr lvl="1">
              <a:buFont typeface="Wingdings" panose="05000000000000000000" pitchFamily="2" charset="2"/>
              <a:buChar char="§"/>
            </a:pPr>
            <a:r>
              <a:rPr lang="en-US" sz="3200" dirty="0"/>
              <a:t>Intelligence is information that is collected, processed and narrowed to meet the needs of policy or decision makers</a:t>
            </a:r>
          </a:p>
          <a:p>
            <a:pPr lvl="1">
              <a:buFont typeface="Wingdings" panose="05000000000000000000" pitchFamily="2" charset="2"/>
              <a:buChar char="§"/>
            </a:pPr>
            <a:endParaRPr lang="en-US" sz="3200" dirty="0"/>
          </a:p>
          <a:p>
            <a:pPr>
              <a:buFont typeface="Wingdings" panose="05000000000000000000" pitchFamily="2" charset="2"/>
              <a:buChar char="§"/>
            </a:pPr>
            <a:endParaRPr lang="en-US" sz="3600" dirty="0"/>
          </a:p>
          <a:p>
            <a:pPr>
              <a:buFont typeface="Wingdings" panose="05000000000000000000" pitchFamily="2" charset="2"/>
              <a:buChar char="§"/>
            </a:pPr>
            <a:r>
              <a:rPr lang="en-US" dirty="0"/>
              <a:t>Note: “Intelligence” is different from “information”  which is different from “data”</a:t>
            </a:r>
          </a:p>
        </p:txBody>
      </p:sp>
      <p:cxnSp>
        <p:nvCxnSpPr>
          <p:cNvPr id="5" name="Straight Arrow Connector 4">
            <a:extLst>
              <a:ext uri="{FF2B5EF4-FFF2-40B4-BE49-F238E27FC236}">
                <a16:creationId xmlns:a16="http://schemas.microsoft.com/office/drawing/2014/main" id="{D68EA5C0-8B3D-5F1E-5126-0C00C0F607BD}"/>
              </a:ext>
            </a:extLst>
          </p:cNvPr>
          <p:cNvCxnSpPr/>
          <p:nvPr/>
        </p:nvCxnSpPr>
        <p:spPr>
          <a:xfrm>
            <a:off x="1723292" y="4769531"/>
            <a:ext cx="1477107" cy="6821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7CB8636-07B7-7E8D-7B8C-25BFF482D29B}"/>
              </a:ext>
            </a:extLst>
          </p:cNvPr>
          <p:cNvSpPr txBox="1"/>
          <p:nvPr/>
        </p:nvSpPr>
        <p:spPr>
          <a:xfrm>
            <a:off x="914440" y="5481314"/>
            <a:ext cx="10706072" cy="1323439"/>
          </a:xfrm>
          <a:prstGeom prst="rect">
            <a:avLst/>
          </a:prstGeom>
          <a:noFill/>
        </p:spPr>
        <p:txBody>
          <a:bodyPr wrap="none" rtlCol="0">
            <a:spAutoFit/>
          </a:bodyPr>
          <a:lstStyle/>
          <a:p>
            <a:r>
              <a:rPr lang="en-US" sz="4000" b="1" dirty="0">
                <a:solidFill>
                  <a:srgbClr val="FF0000"/>
                </a:solidFill>
              </a:rPr>
              <a:t>You may be thinking:</a:t>
            </a:r>
          </a:p>
          <a:p>
            <a:r>
              <a:rPr lang="en-US" sz="4000" b="1" dirty="0">
                <a:solidFill>
                  <a:srgbClr val="FF0000"/>
                </a:solidFill>
              </a:rPr>
              <a:t>WHAT THE ___ DOES THAT MEAN OR MATTER?</a:t>
            </a:r>
          </a:p>
        </p:txBody>
      </p:sp>
    </p:spTree>
    <p:extLst>
      <p:ext uri="{BB962C8B-B14F-4D97-AF65-F5344CB8AC3E}">
        <p14:creationId xmlns:p14="http://schemas.microsoft.com/office/powerpoint/2010/main" val="2610682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2765C0-B25B-6932-BA44-72EBAAFC17A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72E7788-33B7-E65E-2729-054CBF31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0B50A34-186D-4DD5-55F7-D1F00967D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321ED51-73B0-7205-93AD-F04A4D33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6B74550-7EC1-1C6A-294C-D46495C4E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186FD5F-FC13-4A56-8389-E0194042FE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77D719-9F1A-4796-EEAC-45EB3129256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What is “Intelligence”?</a:t>
            </a:r>
          </a:p>
        </p:txBody>
      </p:sp>
      <p:sp>
        <p:nvSpPr>
          <p:cNvPr id="3" name="Content Placeholder 2">
            <a:extLst>
              <a:ext uri="{FF2B5EF4-FFF2-40B4-BE49-F238E27FC236}">
                <a16:creationId xmlns:a16="http://schemas.microsoft.com/office/drawing/2014/main" id="{0F3957B1-4DA0-9B57-6474-4A3953A5EE9A}"/>
              </a:ext>
            </a:extLst>
          </p:cNvPr>
          <p:cNvSpPr>
            <a:spLocks noGrp="1"/>
          </p:cNvSpPr>
          <p:nvPr>
            <p:ph idx="1"/>
          </p:nvPr>
        </p:nvSpPr>
        <p:spPr>
          <a:xfrm>
            <a:off x="304433" y="2139351"/>
            <a:ext cx="11583129" cy="4424111"/>
          </a:xfrm>
        </p:spPr>
        <p:txBody>
          <a:bodyPr anchor="ctr">
            <a:normAutofit/>
          </a:bodyPr>
          <a:lstStyle/>
          <a:p>
            <a:r>
              <a:rPr lang="en-US" b="1" dirty="0"/>
              <a:t>Data</a:t>
            </a:r>
            <a:br>
              <a:rPr lang="en-US" dirty="0"/>
            </a:br>
            <a:r>
              <a:rPr lang="en-US" dirty="0"/>
              <a:t>Raw, unprocessed facts with no meaning on their own.</a:t>
            </a:r>
            <a:br>
              <a:rPr lang="en-US" dirty="0"/>
            </a:br>
            <a:endParaRPr lang="en-US" dirty="0"/>
          </a:p>
          <a:p>
            <a:r>
              <a:rPr lang="en-US" b="1" dirty="0"/>
              <a:t>Information</a:t>
            </a:r>
            <a:br>
              <a:rPr lang="en-US" dirty="0"/>
            </a:br>
            <a:r>
              <a:rPr lang="en-US" dirty="0"/>
              <a:t>Data that has been given context so it becomes meaningful.</a:t>
            </a:r>
            <a:br>
              <a:rPr lang="en-US" dirty="0"/>
            </a:br>
            <a:endParaRPr lang="en-US" dirty="0"/>
          </a:p>
          <a:p>
            <a:r>
              <a:rPr lang="en-US" b="1" dirty="0"/>
              <a:t>Intelligence</a:t>
            </a:r>
            <a:br>
              <a:rPr lang="en-US" dirty="0"/>
            </a:br>
            <a:r>
              <a:rPr lang="en-US" dirty="0"/>
              <a:t>Information that has been analyzed to understand significance or implications for decision-making.</a:t>
            </a:r>
            <a:br>
              <a:rPr lang="en-US" dirty="0"/>
            </a:br>
            <a:endParaRPr lang="en-US" dirty="0"/>
          </a:p>
          <a:p>
            <a:pPr>
              <a:buFont typeface="Wingdings" panose="05000000000000000000" pitchFamily="2" charset="2"/>
              <a:buChar char="§"/>
            </a:pPr>
            <a:endParaRPr lang="en-US" dirty="0"/>
          </a:p>
        </p:txBody>
      </p:sp>
    </p:spTree>
    <p:extLst>
      <p:ext uri="{BB962C8B-B14F-4D97-AF65-F5344CB8AC3E}">
        <p14:creationId xmlns:p14="http://schemas.microsoft.com/office/powerpoint/2010/main" val="1616076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7E106-93C5-663D-3533-1E69CB753F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954D392-B3D2-178D-64F5-067DDA418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685F085-CF79-CAD9-2AE0-BD11A9E9D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7666F25-F16F-F99B-BF96-A411FA5B7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271C17-1E4D-EC7B-63D5-A3CB86E9D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E2C7A5E-2018-5E7E-3B76-5AC7D944D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5CD5EF-A4A8-5EA6-410E-0472E065A781}"/>
              </a:ext>
            </a:extLst>
          </p:cNvPr>
          <p:cNvSpPr>
            <a:spLocks noGrp="1"/>
          </p:cNvSpPr>
          <p:nvPr>
            <p:ph type="title"/>
          </p:nvPr>
        </p:nvSpPr>
        <p:spPr>
          <a:xfrm>
            <a:off x="1371599" y="294538"/>
            <a:ext cx="9895951" cy="1033669"/>
          </a:xfrm>
        </p:spPr>
        <p:txBody>
          <a:bodyPr>
            <a:normAutofit fontScale="90000"/>
          </a:bodyPr>
          <a:lstStyle/>
          <a:p>
            <a:pPr algn="ctr"/>
            <a:r>
              <a:rPr lang="en-US" sz="4000" dirty="0">
                <a:solidFill>
                  <a:srgbClr val="FFFFFF"/>
                </a:solidFill>
              </a:rPr>
              <a:t>What is “Intelligence”? </a:t>
            </a:r>
            <a:br>
              <a:rPr lang="en-US" sz="4000" dirty="0">
                <a:solidFill>
                  <a:srgbClr val="FFFFFF"/>
                </a:solidFill>
              </a:rPr>
            </a:br>
            <a:r>
              <a:rPr lang="en-US" sz="4000" b="1" dirty="0">
                <a:solidFill>
                  <a:schemeClr val="accent2">
                    <a:lumMod val="60000"/>
                    <a:lumOff val="40000"/>
                  </a:schemeClr>
                </a:solidFill>
              </a:rPr>
              <a:t>(HYPOTEHTICAL EXAMPLES)</a:t>
            </a:r>
            <a:br>
              <a:rPr lang="en-US" sz="4000" dirty="0">
                <a:solidFill>
                  <a:srgbClr val="FFFFFF"/>
                </a:solidFill>
              </a:rPr>
            </a:br>
            <a:endParaRPr lang="en-US" sz="4000" dirty="0">
              <a:solidFill>
                <a:srgbClr val="FFFFFF"/>
              </a:solidFill>
            </a:endParaRPr>
          </a:p>
        </p:txBody>
      </p:sp>
      <p:sp>
        <p:nvSpPr>
          <p:cNvPr id="3" name="Content Placeholder 2">
            <a:extLst>
              <a:ext uri="{FF2B5EF4-FFF2-40B4-BE49-F238E27FC236}">
                <a16:creationId xmlns:a16="http://schemas.microsoft.com/office/drawing/2014/main" id="{2B074640-F1A2-898F-99C3-2F374B2268BA}"/>
              </a:ext>
            </a:extLst>
          </p:cNvPr>
          <p:cNvSpPr>
            <a:spLocks noGrp="1"/>
          </p:cNvSpPr>
          <p:nvPr>
            <p:ph idx="1"/>
          </p:nvPr>
        </p:nvSpPr>
        <p:spPr>
          <a:xfrm>
            <a:off x="152033" y="1885279"/>
            <a:ext cx="11732646" cy="4678183"/>
          </a:xfrm>
        </p:spPr>
        <p:txBody>
          <a:bodyPr anchor="ctr">
            <a:normAutofit fontScale="77500" lnSpcReduction="20000"/>
          </a:bodyPr>
          <a:lstStyle/>
          <a:p>
            <a:r>
              <a:rPr lang="en-US" b="1" dirty="0"/>
              <a:t>Data</a:t>
            </a:r>
            <a:br>
              <a:rPr lang="en-US" dirty="0"/>
            </a:br>
            <a:r>
              <a:rPr lang="en-US" dirty="0"/>
              <a:t>Raw, unprocessed facts with no meaning on their own.</a:t>
            </a:r>
            <a:br>
              <a:rPr lang="en-US" dirty="0"/>
            </a:br>
            <a:r>
              <a:rPr lang="en-US" sz="3100" b="1" dirty="0">
                <a:solidFill>
                  <a:srgbClr val="FF0000"/>
                </a:solidFill>
              </a:rPr>
              <a:t>Example: The Intel Community identifies an (overseas) active phone in Iran with number 98 21 1234 567## contacting numbers in Singapore and Malaysia</a:t>
            </a:r>
          </a:p>
          <a:p>
            <a:pPr marL="0" indent="0">
              <a:buNone/>
            </a:pPr>
            <a:endParaRPr lang="en-US" b="1" dirty="0">
              <a:solidFill>
                <a:srgbClr val="FF0000"/>
              </a:solidFill>
            </a:endParaRPr>
          </a:p>
          <a:p>
            <a:r>
              <a:rPr lang="en-US" b="1" dirty="0"/>
              <a:t>Information</a:t>
            </a:r>
            <a:br>
              <a:rPr lang="en-US" dirty="0"/>
            </a:br>
            <a:r>
              <a:rPr lang="en-US" dirty="0"/>
              <a:t>Data that has been given context so it becomes meaningful.</a:t>
            </a:r>
            <a:br>
              <a:rPr lang="en-US" dirty="0"/>
            </a:br>
            <a:r>
              <a:rPr lang="en-US" sz="3100" b="1" dirty="0">
                <a:solidFill>
                  <a:srgbClr val="FF0000"/>
                </a:solidFill>
              </a:rPr>
              <a:t>Example:</a:t>
            </a:r>
            <a:r>
              <a:rPr lang="en-US" sz="3100" dirty="0">
                <a:solidFill>
                  <a:srgbClr val="FF0000"/>
                </a:solidFill>
              </a:rPr>
              <a:t> </a:t>
            </a:r>
          </a:p>
          <a:p>
            <a:pPr lvl="1"/>
            <a:r>
              <a:rPr lang="en-US" sz="3100" b="1" dirty="0">
                <a:solidFill>
                  <a:srgbClr val="FF0000"/>
                </a:solidFill>
              </a:rPr>
              <a:t>98 21 1234 567## is previously associated with a person named John Doe a known Iranian armed drone procurement agent</a:t>
            </a:r>
          </a:p>
          <a:p>
            <a:pPr lvl="1"/>
            <a:r>
              <a:rPr lang="en-US" sz="3100" b="1" dirty="0">
                <a:solidFill>
                  <a:srgbClr val="FF0000"/>
                </a:solidFill>
              </a:rPr>
              <a:t>Previous reporting suggestions weapons procurement networks exist in Singapore and Malayasia</a:t>
            </a:r>
          </a:p>
          <a:p>
            <a:pPr lvl="1"/>
            <a:endParaRPr lang="en-US" b="1" dirty="0">
              <a:solidFill>
                <a:srgbClr val="FF0000"/>
              </a:solidFill>
            </a:endParaRPr>
          </a:p>
          <a:p>
            <a:r>
              <a:rPr lang="en-US" b="1" dirty="0"/>
              <a:t>Intelligence</a:t>
            </a:r>
            <a:br>
              <a:rPr lang="en-US" dirty="0"/>
            </a:br>
            <a:r>
              <a:rPr lang="en-US" dirty="0"/>
              <a:t>Information analyzed to understand significance or implications for decision-making.</a:t>
            </a:r>
          </a:p>
          <a:p>
            <a:pPr lvl="1"/>
            <a:r>
              <a:rPr lang="en-US" sz="3100" b="1" dirty="0">
                <a:solidFill>
                  <a:srgbClr val="FF0000"/>
                </a:solidFill>
              </a:rPr>
              <a:t> SO………….?????????????????????????????????????????????</a:t>
            </a:r>
          </a:p>
        </p:txBody>
      </p:sp>
    </p:spTree>
    <p:extLst>
      <p:ext uri="{BB962C8B-B14F-4D97-AF65-F5344CB8AC3E}">
        <p14:creationId xmlns:p14="http://schemas.microsoft.com/office/powerpoint/2010/main" val="9314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5897E7-5B93-71F8-5923-B1FB0FC95DB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38983FA-DD51-752D-1F65-D03250D82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647C41C-D481-E047-B2BE-F47754931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C92FF80-AD86-270A-6FB9-BB3070B42D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557CC0D-996C-FEC0-D122-A51115207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51C222A-66C7-22AD-0BB7-E226148F0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F4B245-DF33-4A2E-F4E4-8AB252557EE6}"/>
              </a:ext>
            </a:extLst>
          </p:cNvPr>
          <p:cNvSpPr>
            <a:spLocks noGrp="1"/>
          </p:cNvSpPr>
          <p:nvPr>
            <p:ph type="title"/>
          </p:nvPr>
        </p:nvSpPr>
        <p:spPr>
          <a:xfrm>
            <a:off x="1371599" y="294538"/>
            <a:ext cx="9895951" cy="1033669"/>
          </a:xfrm>
        </p:spPr>
        <p:txBody>
          <a:bodyPr>
            <a:normAutofit fontScale="90000"/>
          </a:bodyPr>
          <a:lstStyle/>
          <a:p>
            <a:pPr algn="ctr"/>
            <a:r>
              <a:rPr lang="en-US" sz="4000" dirty="0">
                <a:solidFill>
                  <a:srgbClr val="FFFFFF"/>
                </a:solidFill>
              </a:rPr>
              <a:t>What is “Intelligence”? </a:t>
            </a:r>
            <a:br>
              <a:rPr lang="en-US" sz="4000" dirty="0">
                <a:solidFill>
                  <a:srgbClr val="FFFFFF"/>
                </a:solidFill>
              </a:rPr>
            </a:br>
            <a:r>
              <a:rPr lang="en-US" sz="4000" b="1" dirty="0">
                <a:solidFill>
                  <a:schemeClr val="accent2">
                    <a:lumMod val="60000"/>
                    <a:lumOff val="40000"/>
                  </a:schemeClr>
                </a:solidFill>
              </a:rPr>
              <a:t>(HYPOTEHTICAL EXAMPLES)</a:t>
            </a:r>
            <a:br>
              <a:rPr lang="en-US" sz="4000" dirty="0">
                <a:solidFill>
                  <a:srgbClr val="FFFFFF"/>
                </a:solidFill>
              </a:rPr>
            </a:br>
            <a:endParaRPr lang="en-US" sz="4000" dirty="0">
              <a:solidFill>
                <a:srgbClr val="FFFFFF"/>
              </a:solidFill>
            </a:endParaRPr>
          </a:p>
        </p:txBody>
      </p:sp>
      <p:pic>
        <p:nvPicPr>
          <p:cNvPr id="5" name="Picture 4">
            <a:extLst>
              <a:ext uri="{FF2B5EF4-FFF2-40B4-BE49-F238E27FC236}">
                <a16:creationId xmlns:a16="http://schemas.microsoft.com/office/drawing/2014/main" id="{92591018-818C-E1BF-E64C-D525BC178A0B}"/>
              </a:ext>
            </a:extLst>
          </p:cNvPr>
          <p:cNvPicPr>
            <a:picLocks noChangeAspect="1"/>
          </p:cNvPicPr>
          <p:nvPr/>
        </p:nvPicPr>
        <p:blipFill>
          <a:blip r:embed="rId3"/>
          <a:stretch>
            <a:fillRect/>
          </a:stretch>
        </p:blipFill>
        <p:spPr>
          <a:xfrm>
            <a:off x="5276850" y="1772443"/>
            <a:ext cx="6724342" cy="446753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TextBox 5">
            <a:extLst>
              <a:ext uri="{FF2B5EF4-FFF2-40B4-BE49-F238E27FC236}">
                <a16:creationId xmlns:a16="http://schemas.microsoft.com/office/drawing/2014/main" id="{A121967A-838E-4574-A1F7-16C4A99B928C}"/>
              </a:ext>
            </a:extLst>
          </p:cNvPr>
          <p:cNvSpPr txBox="1"/>
          <p:nvPr/>
        </p:nvSpPr>
        <p:spPr>
          <a:xfrm>
            <a:off x="190808" y="1597432"/>
            <a:ext cx="4895234" cy="2062103"/>
          </a:xfrm>
          <a:prstGeom prst="rect">
            <a:avLst/>
          </a:prstGeom>
          <a:noFill/>
        </p:spPr>
        <p:txBody>
          <a:bodyPr wrap="square" rtlCol="0">
            <a:spAutoFit/>
          </a:bodyPr>
          <a:lstStyle/>
          <a:p>
            <a:pPr algn="ctr"/>
            <a:r>
              <a:rPr lang="en-US" sz="3200" b="1" dirty="0"/>
              <a:t>Is Iran trying to obtain more armed drones from Singapore or Malaysian arms dealers?</a:t>
            </a:r>
          </a:p>
        </p:txBody>
      </p:sp>
      <p:sp>
        <p:nvSpPr>
          <p:cNvPr id="7" name="TextBox 6">
            <a:extLst>
              <a:ext uri="{FF2B5EF4-FFF2-40B4-BE49-F238E27FC236}">
                <a16:creationId xmlns:a16="http://schemas.microsoft.com/office/drawing/2014/main" id="{A3EEE4F0-7D6F-ACD6-9BFA-9A6FAA1955C5}"/>
              </a:ext>
            </a:extLst>
          </p:cNvPr>
          <p:cNvSpPr txBox="1"/>
          <p:nvPr/>
        </p:nvSpPr>
        <p:spPr>
          <a:xfrm>
            <a:off x="0" y="3878566"/>
            <a:ext cx="5086042" cy="2246769"/>
          </a:xfrm>
          <a:prstGeom prst="rect">
            <a:avLst/>
          </a:prstGeom>
          <a:noFill/>
        </p:spPr>
        <p:txBody>
          <a:bodyPr wrap="square" rtlCol="0">
            <a:spAutoFit/>
          </a:bodyPr>
          <a:lstStyle/>
          <a:p>
            <a:pPr algn="ctr"/>
            <a:r>
              <a:rPr lang="en-US" sz="2800" i="1" dirty="0"/>
              <a:t>“It is likely that Iran is trying to obtain armed drone materials from Singapore and/or Malysia.. This is made with medium confidence”</a:t>
            </a:r>
          </a:p>
        </p:txBody>
      </p:sp>
      <p:sp>
        <p:nvSpPr>
          <p:cNvPr id="11" name="TextBox 10">
            <a:extLst>
              <a:ext uri="{FF2B5EF4-FFF2-40B4-BE49-F238E27FC236}">
                <a16:creationId xmlns:a16="http://schemas.microsoft.com/office/drawing/2014/main" id="{7D2749C4-4042-C0A3-D17A-59A80F5BDDD4}"/>
              </a:ext>
            </a:extLst>
          </p:cNvPr>
          <p:cNvSpPr txBox="1"/>
          <p:nvPr/>
        </p:nvSpPr>
        <p:spPr>
          <a:xfrm>
            <a:off x="962025" y="6194130"/>
            <a:ext cx="6191250" cy="369332"/>
          </a:xfrm>
          <a:prstGeom prst="rect">
            <a:avLst/>
          </a:prstGeom>
          <a:noFill/>
        </p:spPr>
        <p:txBody>
          <a:bodyPr wrap="square">
            <a:spAutoFit/>
          </a:bodyPr>
          <a:lstStyle/>
          <a:p>
            <a:r>
              <a:rPr lang="en-US" sz="1800" b="1" dirty="0">
                <a:solidFill>
                  <a:srgbClr val="FF0000"/>
                </a:solidFill>
              </a:rPr>
              <a:t>(HYPOTEHTICAL EXAMPLE ONLY</a:t>
            </a:r>
            <a:r>
              <a:rPr lang="en-US" sz="1800" b="1" dirty="0">
                <a:solidFill>
                  <a:schemeClr val="accent2">
                    <a:lumMod val="60000"/>
                    <a:lumOff val="40000"/>
                  </a:schemeClr>
                </a:solidFill>
              </a:rPr>
              <a:t>)</a:t>
            </a:r>
            <a:endParaRPr lang="en-US" dirty="0"/>
          </a:p>
        </p:txBody>
      </p:sp>
    </p:spTree>
    <p:extLst>
      <p:ext uri="{BB962C8B-B14F-4D97-AF65-F5344CB8AC3E}">
        <p14:creationId xmlns:p14="http://schemas.microsoft.com/office/powerpoint/2010/main" val="3624256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4CA555-250A-1720-763C-7F8F0811BC0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936375-F4A1-FA70-5BA3-FC3B1D357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86F3677-71D5-D2BF-D460-8C61A7E42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2F53B23-F65C-A1A0-C768-BEC2BD959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70890-86CA-1EE2-AC6A-E2EA631DD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D07C244-7920-E327-AFDA-9B48E25CE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1A01D0-8AF1-30BB-C8B0-D4238B47826A}"/>
              </a:ext>
            </a:extLst>
          </p:cNvPr>
          <p:cNvSpPr>
            <a:spLocks noGrp="1"/>
          </p:cNvSpPr>
          <p:nvPr>
            <p:ph type="title"/>
          </p:nvPr>
        </p:nvSpPr>
        <p:spPr>
          <a:xfrm>
            <a:off x="1371599" y="294538"/>
            <a:ext cx="9895951" cy="1033669"/>
          </a:xfrm>
        </p:spPr>
        <p:txBody>
          <a:bodyPr>
            <a:normAutofit fontScale="90000"/>
          </a:bodyPr>
          <a:lstStyle/>
          <a:p>
            <a:pPr algn="ctr"/>
            <a:r>
              <a:rPr lang="en-US" sz="4000" dirty="0">
                <a:solidFill>
                  <a:srgbClr val="FFFFFF"/>
                </a:solidFill>
              </a:rPr>
              <a:t>What is “Intelligence”? </a:t>
            </a:r>
            <a:br>
              <a:rPr lang="en-US" sz="4000" dirty="0">
                <a:solidFill>
                  <a:srgbClr val="FFFFFF"/>
                </a:solidFill>
              </a:rPr>
            </a:br>
            <a:r>
              <a:rPr lang="en-US" sz="4000" b="1" dirty="0">
                <a:solidFill>
                  <a:schemeClr val="accent2">
                    <a:lumMod val="60000"/>
                    <a:lumOff val="40000"/>
                  </a:schemeClr>
                </a:solidFill>
              </a:rPr>
              <a:t>(HYPOTEHTICAL EXAMPLES)</a:t>
            </a:r>
            <a:br>
              <a:rPr lang="en-US" sz="4000" dirty="0">
                <a:solidFill>
                  <a:srgbClr val="FFFFFF"/>
                </a:solidFill>
              </a:rPr>
            </a:br>
            <a:endParaRPr lang="en-US" sz="4000" dirty="0">
              <a:solidFill>
                <a:srgbClr val="FFFFFF"/>
              </a:solidFill>
            </a:endParaRPr>
          </a:p>
        </p:txBody>
      </p:sp>
      <p:pic>
        <p:nvPicPr>
          <p:cNvPr id="5" name="Picture 4">
            <a:extLst>
              <a:ext uri="{FF2B5EF4-FFF2-40B4-BE49-F238E27FC236}">
                <a16:creationId xmlns:a16="http://schemas.microsoft.com/office/drawing/2014/main" id="{22EF83BC-4F79-2DAB-8342-00E71D8367A3}"/>
              </a:ext>
            </a:extLst>
          </p:cNvPr>
          <p:cNvPicPr>
            <a:picLocks noChangeAspect="1"/>
          </p:cNvPicPr>
          <p:nvPr/>
        </p:nvPicPr>
        <p:blipFill>
          <a:blip r:embed="rId3"/>
          <a:stretch>
            <a:fillRect/>
          </a:stretch>
        </p:blipFill>
        <p:spPr>
          <a:xfrm>
            <a:off x="8586866" y="2145323"/>
            <a:ext cx="3414325" cy="226841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TextBox 5">
            <a:extLst>
              <a:ext uri="{FF2B5EF4-FFF2-40B4-BE49-F238E27FC236}">
                <a16:creationId xmlns:a16="http://schemas.microsoft.com/office/drawing/2014/main" id="{E491C996-9EC7-172A-4661-6F1854C52B29}"/>
              </a:ext>
            </a:extLst>
          </p:cNvPr>
          <p:cNvSpPr txBox="1"/>
          <p:nvPr/>
        </p:nvSpPr>
        <p:spPr>
          <a:xfrm>
            <a:off x="459350" y="1891970"/>
            <a:ext cx="5449081" cy="1815882"/>
          </a:xfrm>
          <a:prstGeom prst="rect">
            <a:avLst/>
          </a:prstGeom>
          <a:noFill/>
        </p:spPr>
        <p:txBody>
          <a:bodyPr wrap="square" rtlCol="0">
            <a:spAutoFit/>
          </a:bodyPr>
          <a:lstStyle/>
          <a:p>
            <a:pPr algn="ctr"/>
            <a:r>
              <a:rPr lang="en-US" sz="2800" b="1" dirty="0"/>
              <a:t>Given that information, is Iran trying to obtain more armed drones from Singapore or Malaysian arms dealers?</a:t>
            </a:r>
          </a:p>
        </p:txBody>
      </p:sp>
      <p:sp>
        <p:nvSpPr>
          <p:cNvPr id="3" name="Rectangle 2">
            <a:extLst>
              <a:ext uri="{FF2B5EF4-FFF2-40B4-BE49-F238E27FC236}">
                <a16:creationId xmlns:a16="http://schemas.microsoft.com/office/drawing/2014/main" id="{B15097B2-0417-65CF-BAEC-37C1A92942CB}"/>
              </a:ext>
            </a:extLst>
          </p:cNvPr>
          <p:cNvSpPr/>
          <p:nvPr/>
        </p:nvSpPr>
        <p:spPr>
          <a:xfrm>
            <a:off x="650631" y="1891970"/>
            <a:ext cx="5257800" cy="18158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21C087A-28F6-FE19-56BE-1E66CABBE866}"/>
              </a:ext>
            </a:extLst>
          </p:cNvPr>
          <p:cNvSpPr txBox="1"/>
          <p:nvPr/>
        </p:nvSpPr>
        <p:spPr>
          <a:xfrm>
            <a:off x="128112" y="5312703"/>
            <a:ext cx="10716908" cy="1200329"/>
          </a:xfrm>
          <a:prstGeom prst="rect">
            <a:avLst/>
          </a:prstGeom>
          <a:noFill/>
        </p:spPr>
        <p:txBody>
          <a:bodyPr wrap="none" rtlCol="0">
            <a:spAutoFit/>
          </a:bodyPr>
          <a:lstStyle/>
          <a:p>
            <a:pPr algn="ctr"/>
            <a:r>
              <a:rPr lang="en-US" sz="3600" i="1" dirty="0"/>
              <a:t>This is the</a:t>
            </a:r>
            <a:r>
              <a:rPr lang="en-US" sz="3600" i="1" u="sng" dirty="0"/>
              <a:t> type</a:t>
            </a:r>
            <a:r>
              <a:rPr lang="en-US" sz="3600" i="1" dirty="0"/>
              <a:t> of question intelligence professionals </a:t>
            </a:r>
          </a:p>
          <a:p>
            <a:pPr algn="ctr"/>
            <a:r>
              <a:rPr lang="en-US" sz="3600" i="1" dirty="0"/>
              <a:t>try to answer…all the time!</a:t>
            </a:r>
          </a:p>
        </p:txBody>
      </p:sp>
    </p:spTree>
    <p:extLst>
      <p:ext uri="{BB962C8B-B14F-4D97-AF65-F5344CB8AC3E}">
        <p14:creationId xmlns:p14="http://schemas.microsoft.com/office/powerpoint/2010/main" val="3058220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887FBA-FEB8-1E77-81B6-598A0934A4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7CDE47-C942-5E7A-666F-0E01E2AA3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9C4ED0A-D679-D473-7BE5-994065CE4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D1F51E7-1B0D-2D0C-C960-F68D52687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E18E4EA-257F-A864-515A-0513FF41F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B694B1F-0491-E826-0098-D9F9248C0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AB2790-1107-B771-591A-D34DBDCD1F05}"/>
              </a:ext>
            </a:extLst>
          </p:cNvPr>
          <p:cNvSpPr>
            <a:spLocks noGrp="1"/>
          </p:cNvSpPr>
          <p:nvPr>
            <p:ph type="title"/>
          </p:nvPr>
        </p:nvSpPr>
        <p:spPr>
          <a:xfrm>
            <a:off x="1371599" y="294538"/>
            <a:ext cx="9895951" cy="1033669"/>
          </a:xfrm>
        </p:spPr>
        <p:txBody>
          <a:bodyPr>
            <a:normAutofit fontScale="90000"/>
          </a:bodyPr>
          <a:lstStyle/>
          <a:p>
            <a:pPr algn="ctr"/>
            <a:r>
              <a:rPr lang="en-US" sz="4000" dirty="0">
                <a:solidFill>
                  <a:srgbClr val="FFFFFF"/>
                </a:solidFill>
              </a:rPr>
              <a:t>Analytic Process</a:t>
            </a:r>
            <a:br>
              <a:rPr lang="en-US" sz="4000" dirty="0">
                <a:solidFill>
                  <a:srgbClr val="FFFFFF"/>
                </a:solidFill>
              </a:rPr>
            </a:br>
            <a:endParaRPr lang="en-US" sz="4000" dirty="0">
              <a:solidFill>
                <a:srgbClr val="FFFFFF"/>
              </a:solidFill>
            </a:endParaRPr>
          </a:p>
        </p:txBody>
      </p:sp>
      <p:sp>
        <p:nvSpPr>
          <p:cNvPr id="7" name="TextBox 6">
            <a:extLst>
              <a:ext uri="{FF2B5EF4-FFF2-40B4-BE49-F238E27FC236}">
                <a16:creationId xmlns:a16="http://schemas.microsoft.com/office/drawing/2014/main" id="{6EFF51EF-1DD9-96F4-44A1-C04E0FDF3CF6}"/>
              </a:ext>
            </a:extLst>
          </p:cNvPr>
          <p:cNvSpPr txBox="1"/>
          <p:nvPr/>
        </p:nvSpPr>
        <p:spPr>
          <a:xfrm>
            <a:off x="173024" y="2060895"/>
            <a:ext cx="9572677"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t>Collect Information</a:t>
            </a:r>
            <a:r>
              <a:rPr lang="en-US" sz="2800" dirty="0"/>
              <a:t> – Gather data from various sources.</a:t>
            </a:r>
          </a:p>
          <a:p>
            <a:pPr marL="457200" indent="-457200">
              <a:buFont typeface="Arial" panose="020B0604020202020204" pitchFamily="34" charset="0"/>
              <a:buChar char="•"/>
            </a:pPr>
            <a:r>
              <a:rPr lang="en-US" sz="2800" b="1" dirty="0"/>
              <a:t>Organize the Information</a:t>
            </a:r>
            <a:r>
              <a:rPr lang="en-US" sz="2800" dirty="0"/>
              <a:t> – Sort, categorize data. </a:t>
            </a:r>
          </a:p>
          <a:p>
            <a:pPr marL="457200" indent="-457200">
              <a:buFont typeface="Arial" panose="020B0604020202020204" pitchFamily="34" charset="0"/>
              <a:buChar char="•"/>
            </a:pPr>
            <a:r>
              <a:rPr lang="en-US" sz="2800" b="1" dirty="0"/>
              <a:t>Evaluate the Sources</a:t>
            </a:r>
            <a:r>
              <a:rPr lang="en-US" sz="2800" dirty="0"/>
              <a:t> – Assess credibility of information. </a:t>
            </a:r>
          </a:p>
          <a:p>
            <a:pPr marL="457200" indent="-457200">
              <a:buFont typeface="Arial" panose="020B0604020202020204" pitchFamily="34" charset="0"/>
              <a:buChar char="•"/>
            </a:pPr>
            <a:r>
              <a:rPr lang="en-US" sz="2800" b="1" dirty="0"/>
              <a:t>Look for Patterns and Relationships</a:t>
            </a:r>
            <a:endParaRPr lang="en-US" sz="2800" dirty="0"/>
          </a:p>
          <a:p>
            <a:pPr marL="457200" indent="-457200">
              <a:buFont typeface="Arial" panose="020B0604020202020204" pitchFamily="34" charset="0"/>
              <a:buChar char="•"/>
            </a:pPr>
            <a:r>
              <a:rPr lang="en-US" sz="2800" b="1" dirty="0"/>
              <a:t>Make Judgments</a:t>
            </a:r>
            <a:r>
              <a:rPr lang="en-US" sz="2800" dirty="0"/>
              <a:t> – Develop analytical conclusions based on the available evidence.</a:t>
            </a:r>
          </a:p>
          <a:p>
            <a:pPr marL="457200" indent="-457200">
              <a:buFont typeface="Arial" panose="020B0604020202020204" pitchFamily="34" charset="0"/>
              <a:buChar char="•"/>
            </a:pPr>
            <a:r>
              <a:rPr lang="en-US" sz="2800" dirty="0"/>
              <a:t> </a:t>
            </a:r>
            <a:r>
              <a:rPr lang="en-US" sz="2800" b="1" dirty="0"/>
              <a:t>Communicate Findings</a:t>
            </a:r>
            <a:r>
              <a:rPr lang="en-US" sz="2800" dirty="0"/>
              <a:t> – Present conclusions, confidence levels, supporting evidence, and remaining uncertainties to decision-makers.</a:t>
            </a:r>
          </a:p>
        </p:txBody>
      </p:sp>
      <p:pic>
        <p:nvPicPr>
          <p:cNvPr id="11" name="Picture 10">
            <a:extLst>
              <a:ext uri="{FF2B5EF4-FFF2-40B4-BE49-F238E27FC236}">
                <a16:creationId xmlns:a16="http://schemas.microsoft.com/office/drawing/2014/main" id="{6F894630-9ADA-CF34-07AA-E7F821E7C04D}"/>
              </a:ext>
            </a:extLst>
          </p:cNvPr>
          <p:cNvPicPr>
            <a:picLocks noChangeAspect="1"/>
          </p:cNvPicPr>
          <p:nvPr/>
        </p:nvPicPr>
        <p:blipFill>
          <a:blip r:embed="rId3"/>
          <a:stretch>
            <a:fillRect/>
          </a:stretch>
        </p:blipFill>
        <p:spPr>
          <a:xfrm>
            <a:off x="9956825" y="2657327"/>
            <a:ext cx="1816299" cy="237187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400672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14BA32-FC8F-53F8-C22E-2F1F6497DF0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20FD4C-486A-EC21-4132-27330A670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6EF3159-7C84-6664-8F58-9BC6AC432E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CC7C56F-2120-7B2A-4192-B84561BDC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C2E81A4-7671-0DEC-0F31-3368B4FB0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F5AF1-5030-2DA7-80C5-DCB6A0BB6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A43013-B5EC-64D8-1418-2C2E7C82B528}"/>
              </a:ext>
            </a:extLst>
          </p:cNvPr>
          <p:cNvSpPr>
            <a:spLocks noGrp="1"/>
          </p:cNvSpPr>
          <p:nvPr>
            <p:ph type="title"/>
          </p:nvPr>
        </p:nvSpPr>
        <p:spPr>
          <a:xfrm>
            <a:off x="1371599" y="294538"/>
            <a:ext cx="9895951" cy="1033669"/>
          </a:xfrm>
        </p:spPr>
        <p:txBody>
          <a:bodyPr>
            <a:normAutofit fontScale="90000"/>
          </a:bodyPr>
          <a:lstStyle/>
          <a:p>
            <a:pPr algn="ctr"/>
            <a:r>
              <a:rPr lang="en-US" sz="4000" dirty="0">
                <a:solidFill>
                  <a:srgbClr val="FFFFFF"/>
                </a:solidFill>
              </a:rPr>
              <a:t>Analytic Judgments</a:t>
            </a:r>
            <a:br>
              <a:rPr lang="en-US" sz="4000" dirty="0">
                <a:solidFill>
                  <a:srgbClr val="FFFFFF"/>
                </a:solidFill>
              </a:rPr>
            </a:br>
            <a:r>
              <a:rPr lang="en-US" sz="4000" dirty="0">
                <a:solidFill>
                  <a:srgbClr val="FFFFFF"/>
                </a:solidFill>
              </a:rPr>
              <a:t>Typically Include Likelihood and Confidence Level </a:t>
            </a:r>
            <a:br>
              <a:rPr lang="en-US" sz="4000" dirty="0">
                <a:solidFill>
                  <a:srgbClr val="FFFFFF"/>
                </a:solidFill>
              </a:rPr>
            </a:br>
            <a:endParaRPr lang="en-US" sz="4000" dirty="0">
              <a:solidFill>
                <a:srgbClr val="FFFFFF"/>
              </a:solidFill>
            </a:endParaRPr>
          </a:p>
        </p:txBody>
      </p:sp>
      <p:sp>
        <p:nvSpPr>
          <p:cNvPr id="3" name="TextBox 2">
            <a:extLst>
              <a:ext uri="{FF2B5EF4-FFF2-40B4-BE49-F238E27FC236}">
                <a16:creationId xmlns:a16="http://schemas.microsoft.com/office/drawing/2014/main" id="{201BB2C6-A907-D727-811C-7E8E7C51B019}"/>
              </a:ext>
            </a:extLst>
          </p:cNvPr>
          <p:cNvSpPr txBox="1"/>
          <p:nvPr/>
        </p:nvSpPr>
        <p:spPr>
          <a:xfrm>
            <a:off x="459350" y="1622745"/>
            <a:ext cx="9452396" cy="1077218"/>
          </a:xfrm>
          <a:prstGeom prst="rect">
            <a:avLst/>
          </a:prstGeom>
          <a:noFill/>
        </p:spPr>
        <p:txBody>
          <a:bodyPr wrap="none" rtlCol="0">
            <a:spAutoFit/>
          </a:bodyPr>
          <a:lstStyle/>
          <a:p>
            <a:r>
              <a:rPr lang="en-US" sz="3200" dirty="0"/>
              <a:t>“It is </a:t>
            </a:r>
            <a:r>
              <a:rPr lang="en-US" sz="3200" dirty="0">
                <a:solidFill>
                  <a:srgbClr val="002060"/>
                </a:solidFill>
              </a:rPr>
              <a:t> (insert likelihood) </a:t>
            </a:r>
            <a:r>
              <a:rPr lang="en-US" sz="3200" dirty="0"/>
              <a:t> that X will occur.” AND</a:t>
            </a:r>
          </a:p>
          <a:p>
            <a:r>
              <a:rPr lang="en-US" sz="3200" dirty="0"/>
              <a:t>“This judgment is made with</a:t>
            </a:r>
            <a:r>
              <a:rPr lang="en-US" sz="3200" dirty="0">
                <a:solidFill>
                  <a:srgbClr val="002060"/>
                </a:solidFill>
              </a:rPr>
              <a:t> insert confidence level”</a:t>
            </a:r>
            <a:r>
              <a:rPr lang="en-US" dirty="0"/>
              <a:t> </a:t>
            </a:r>
          </a:p>
        </p:txBody>
      </p:sp>
      <p:pic>
        <p:nvPicPr>
          <p:cNvPr id="5" name="Picture 4">
            <a:extLst>
              <a:ext uri="{FF2B5EF4-FFF2-40B4-BE49-F238E27FC236}">
                <a16:creationId xmlns:a16="http://schemas.microsoft.com/office/drawing/2014/main" id="{06D208CB-17E2-E855-A11D-BCFCA5852315}"/>
              </a:ext>
            </a:extLst>
          </p:cNvPr>
          <p:cNvPicPr>
            <a:picLocks noChangeAspect="1"/>
          </p:cNvPicPr>
          <p:nvPr/>
        </p:nvPicPr>
        <p:blipFill>
          <a:blip r:embed="rId3"/>
          <a:srcRect t="4066"/>
          <a:stretch>
            <a:fillRect/>
          </a:stretch>
        </p:blipFill>
        <p:spPr>
          <a:xfrm>
            <a:off x="547065" y="3067049"/>
            <a:ext cx="5548933" cy="35753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023EC6DA-E9A7-9435-DB78-0A2D9D7C916C}"/>
              </a:ext>
            </a:extLst>
          </p:cNvPr>
          <p:cNvPicPr>
            <a:picLocks noChangeAspect="1"/>
          </p:cNvPicPr>
          <p:nvPr/>
        </p:nvPicPr>
        <p:blipFill>
          <a:blip r:embed="rId4"/>
          <a:srcRect r="3378" b="-333"/>
          <a:stretch>
            <a:fillRect/>
          </a:stretch>
        </p:blipFill>
        <p:spPr>
          <a:xfrm>
            <a:off x="6643063" y="3429000"/>
            <a:ext cx="5184610" cy="25327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80052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7347F0-3EA0-3158-880E-4C972BFA030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20E5DFD-8F2F-C071-84A1-6422D5A83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CF43987-2C0E-41A3-BDDF-1E66412C7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C57B78C-F2CE-0DB8-80A7-DD05526B5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0C7EDB7-189E-DF61-C4D4-26994C5BA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0BBCFC2-C528-F2DD-855A-5721ACF36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0083BF3-6B8C-BFA5-E1E4-25EA73ACD3B5}"/>
              </a:ext>
            </a:extLst>
          </p:cNvPr>
          <p:cNvSpPr>
            <a:spLocks noGrp="1"/>
          </p:cNvSpPr>
          <p:nvPr>
            <p:ph type="title"/>
          </p:nvPr>
        </p:nvSpPr>
        <p:spPr>
          <a:xfrm>
            <a:off x="1377697" y="664858"/>
            <a:ext cx="9895951" cy="1033669"/>
          </a:xfrm>
        </p:spPr>
        <p:txBody>
          <a:bodyPr>
            <a:normAutofit fontScale="90000"/>
          </a:bodyPr>
          <a:lstStyle/>
          <a:p>
            <a:pPr algn="ctr"/>
            <a:r>
              <a:rPr lang="en-US" sz="4000" dirty="0">
                <a:solidFill>
                  <a:srgbClr val="FFFFFF"/>
                </a:solidFill>
              </a:rPr>
              <a:t>Random Thoughts on “Technical” Data/Info on Analysis</a:t>
            </a:r>
            <a:br>
              <a:rPr lang="en-US" sz="4000" dirty="0">
                <a:solidFill>
                  <a:srgbClr val="FFFFFF"/>
                </a:solidFill>
              </a:rPr>
            </a:br>
            <a:br>
              <a:rPr lang="en-US" sz="4000" dirty="0">
                <a:solidFill>
                  <a:srgbClr val="FFFFFF"/>
                </a:solidFill>
              </a:rPr>
            </a:br>
            <a:endParaRPr lang="en-US" sz="4000" dirty="0">
              <a:solidFill>
                <a:srgbClr val="FFFFFF"/>
              </a:solidFill>
            </a:endParaRPr>
          </a:p>
        </p:txBody>
      </p:sp>
      <p:sp>
        <p:nvSpPr>
          <p:cNvPr id="3" name="TextBox 2">
            <a:extLst>
              <a:ext uri="{FF2B5EF4-FFF2-40B4-BE49-F238E27FC236}">
                <a16:creationId xmlns:a16="http://schemas.microsoft.com/office/drawing/2014/main" id="{2EDB6FDF-F88F-A237-A227-68772C758FFB}"/>
              </a:ext>
            </a:extLst>
          </p:cNvPr>
          <p:cNvSpPr txBox="1"/>
          <p:nvPr/>
        </p:nvSpPr>
        <p:spPr>
          <a:xfrm>
            <a:off x="334450" y="1698527"/>
            <a:ext cx="11523100" cy="4154984"/>
          </a:xfrm>
          <a:prstGeom prst="rect">
            <a:avLst/>
          </a:prstGeom>
          <a:noFill/>
        </p:spPr>
        <p:txBody>
          <a:bodyPr wrap="square" rtlCol="0">
            <a:spAutoFit/>
          </a:bodyPr>
          <a:lstStyle/>
          <a:p>
            <a:pPr marL="285750" indent="-285750">
              <a:buFont typeface="Arial" panose="020B0604020202020204" pitchFamily="34" charset="0"/>
              <a:buChar char="•"/>
            </a:pPr>
            <a:r>
              <a:rPr lang="en-US" sz="2400" i="1" dirty="0"/>
              <a:t>Traditionally:</a:t>
            </a:r>
            <a:r>
              <a:rPr lang="en-US" sz="2400" dirty="0"/>
              <a:t>  intelligence analysis does not rely solely on statistical analysis (e.g. regression models)</a:t>
            </a:r>
          </a:p>
          <a:p>
            <a:pPr marL="742950" lvl="1" indent="-285750">
              <a:buFont typeface="Arial" panose="020B0604020202020204" pitchFamily="34" charset="0"/>
              <a:buChar char="•"/>
            </a:pPr>
            <a:r>
              <a:rPr lang="en-US" sz="2400" dirty="0"/>
              <a:t>However, those are used to inform probability and confidence levels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Data Science, computer science, cyber security and AI are expanding in the profession.</a:t>
            </a:r>
          </a:p>
          <a:p>
            <a:pPr marL="742950" lvl="1" indent="-285750">
              <a:buFont typeface="Arial" panose="020B0604020202020204" pitchFamily="34" charset="0"/>
              <a:buChar char="•"/>
            </a:pPr>
            <a:r>
              <a:rPr lang="en-US" sz="2400" dirty="0"/>
              <a:t>Some agencies more aggressive than others (from what I can tell as an outsider)</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BUT ethics, legalities, and values clearly make their use a significant concern.</a:t>
            </a:r>
          </a:p>
          <a:p>
            <a:pPr marL="742950" lvl="1" indent="-285750">
              <a:buFont typeface="Arial" panose="020B0604020202020204" pitchFamily="34" charset="0"/>
              <a:buChar char="•"/>
            </a:pPr>
            <a:r>
              <a:rPr lang="en-US" sz="2400" dirty="0"/>
              <a:t>E.g. Do you want your government collecting and gathering “big data” on you?</a:t>
            </a:r>
          </a:p>
          <a:p>
            <a:pPr marL="742950" lvl="1" indent="-285750">
              <a:buFont typeface="Arial" panose="020B0604020202020204" pitchFamily="34" charset="0"/>
              <a:buChar char="•"/>
            </a:pPr>
            <a:r>
              <a:rPr lang="en-US" sz="2400" dirty="0"/>
              <a:t>AI trust and reliability a major concern </a:t>
            </a:r>
          </a:p>
        </p:txBody>
      </p:sp>
    </p:spTree>
    <p:extLst>
      <p:ext uri="{BB962C8B-B14F-4D97-AF65-F5344CB8AC3E}">
        <p14:creationId xmlns:p14="http://schemas.microsoft.com/office/powerpoint/2010/main" val="1719423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8DFBDE-54AC-BB39-4E3D-9D91C27EE8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4A033E-015A-6D57-080E-F57CD0553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EBA20AB-96E0-D045-D034-B70C78ECC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C88E69E-9DCA-FA37-AE13-CDA65A673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E1CB607-70AA-1625-B6B4-CFC0975230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07D03E0-3A8D-93F2-638B-A8EFA674D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2CFB06-1AC0-C8DC-571B-2F6907721EDD}"/>
              </a:ext>
            </a:extLst>
          </p:cNvPr>
          <p:cNvSpPr>
            <a:spLocks noGrp="1"/>
          </p:cNvSpPr>
          <p:nvPr>
            <p:ph type="title"/>
          </p:nvPr>
        </p:nvSpPr>
        <p:spPr>
          <a:xfrm>
            <a:off x="1377697" y="664858"/>
            <a:ext cx="9895951" cy="1033669"/>
          </a:xfrm>
        </p:spPr>
        <p:txBody>
          <a:bodyPr>
            <a:normAutofit fontScale="90000"/>
          </a:bodyPr>
          <a:lstStyle/>
          <a:p>
            <a:pPr algn="ctr"/>
            <a:r>
              <a:rPr lang="en-US" sz="4000" dirty="0">
                <a:solidFill>
                  <a:srgbClr val="FFFFFF"/>
                </a:solidFill>
              </a:rPr>
              <a:t>Want to Know More?</a:t>
            </a:r>
            <a:br>
              <a:rPr lang="en-US" sz="4000" dirty="0">
                <a:solidFill>
                  <a:srgbClr val="FFFFFF"/>
                </a:solidFill>
              </a:rPr>
            </a:br>
            <a:br>
              <a:rPr lang="en-US" sz="4000" dirty="0">
                <a:solidFill>
                  <a:srgbClr val="FFFFFF"/>
                </a:solidFill>
              </a:rPr>
            </a:br>
            <a:endParaRPr lang="en-US" sz="4000" dirty="0">
              <a:solidFill>
                <a:srgbClr val="FFFFFF"/>
              </a:solidFill>
            </a:endParaRPr>
          </a:p>
        </p:txBody>
      </p:sp>
      <p:sp>
        <p:nvSpPr>
          <p:cNvPr id="3" name="TextBox 2">
            <a:extLst>
              <a:ext uri="{FF2B5EF4-FFF2-40B4-BE49-F238E27FC236}">
                <a16:creationId xmlns:a16="http://schemas.microsoft.com/office/drawing/2014/main" id="{C38D55B5-7469-C717-CF2C-6A7C0F26A994}"/>
              </a:ext>
            </a:extLst>
          </p:cNvPr>
          <p:cNvSpPr txBox="1"/>
          <p:nvPr/>
        </p:nvSpPr>
        <p:spPr>
          <a:xfrm>
            <a:off x="-4" y="1698527"/>
            <a:ext cx="11982453"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Google:</a:t>
            </a:r>
          </a:p>
          <a:p>
            <a:pPr marL="742950" lvl="1" indent="-285750">
              <a:buFont typeface="Arial" panose="020B0604020202020204" pitchFamily="34" charset="0"/>
              <a:buChar char="•"/>
            </a:pPr>
            <a:r>
              <a:rPr lang="en-US" sz="2400" dirty="0"/>
              <a:t>Careers in Intelligence:     IC Jobs.gov</a:t>
            </a:r>
          </a:p>
          <a:p>
            <a:pPr marL="742950" lvl="1" indent="-28575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More about the Intelligence Community:   IC.GOV</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400" dirty="0"/>
              <a:t>METRO STATE INTELLIGENCE CERTIFICATE</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endParaRPr lang="en-US" sz="2400" dirty="0">
              <a:solidFill>
                <a:srgbClr val="FF0000"/>
              </a:solidFill>
            </a:endParaRPr>
          </a:p>
          <a:p>
            <a:pPr marL="800100" lvl="1" indent="-342900">
              <a:buFont typeface="Arial" panose="020B0604020202020204" pitchFamily="34" charset="0"/>
              <a:buChar char="•"/>
            </a:pPr>
            <a:r>
              <a:rPr lang="en-US" sz="2400" b="1" dirty="0">
                <a:solidFill>
                  <a:srgbClr val="FF0000"/>
                </a:solidFill>
              </a:rPr>
              <a:t>Consider enrolling in CJS 366 THE US INTELLIGENCE COMMUNITY  this Fall!!</a:t>
            </a:r>
          </a:p>
          <a:p>
            <a:pPr marL="1257300" lvl="2" indent="-342900">
              <a:buFont typeface="Arial" panose="020B0604020202020204" pitchFamily="34" charset="0"/>
              <a:buChar char="•"/>
            </a:pPr>
            <a:r>
              <a:rPr lang="en-US" sz="2400" b="1" dirty="0">
                <a:solidFill>
                  <a:srgbClr val="FF0000"/>
                </a:solidFill>
              </a:rPr>
              <a:t>Wednesday Evenings from 6-9:20 PM  ON CAMPUS! (NO ONLINE VERSION)</a:t>
            </a:r>
          </a:p>
        </p:txBody>
      </p:sp>
      <p:pic>
        <p:nvPicPr>
          <p:cNvPr id="5" name="Picture 4">
            <a:extLst>
              <a:ext uri="{FF2B5EF4-FFF2-40B4-BE49-F238E27FC236}">
                <a16:creationId xmlns:a16="http://schemas.microsoft.com/office/drawing/2014/main" id="{EB7301C9-A883-F475-7626-19769E79043E}"/>
              </a:ext>
            </a:extLst>
          </p:cNvPr>
          <p:cNvPicPr>
            <a:picLocks noChangeAspect="1"/>
          </p:cNvPicPr>
          <p:nvPr/>
        </p:nvPicPr>
        <p:blipFill>
          <a:blip r:embed="rId3"/>
          <a:stretch>
            <a:fillRect/>
          </a:stretch>
        </p:blipFill>
        <p:spPr>
          <a:xfrm>
            <a:off x="7300476" y="3429000"/>
            <a:ext cx="4222621" cy="18720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5600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059F0F-6060-686F-CFC1-3E230D1C57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FC76AF-3C82-F676-31A1-AADC4C91C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23C5486-2CE7-02ED-65DD-732EFF14D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DA9E67-0751-0D8C-6A1B-0F176DC04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B765C05-11B3-1892-52D2-C8421FA04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68B45E4-4FE2-7D3A-9D55-7C012606A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E67D09-4B3C-B6C1-F759-77BC5CEFB760}"/>
              </a:ext>
            </a:extLst>
          </p:cNvPr>
          <p:cNvSpPr>
            <a:spLocks noGrp="1"/>
          </p:cNvSpPr>
          <p:nvPr>
            <p:ph type="title"/>
          </p:nvPr>
        </p:nvSpPr>
        <p:spPr>
          <a:xfrm>
            <a:off x="1377697" y="664858"/>
            <a:ext cx="9895951" cy="1033669"/>
          </a:xfrm>
        </p:spPr>
        <p:txBody>
          <a:bodyPr>
            <a:normAutofit fontScale="90000"/>
          </a:bodyPr>
          <a:lstStyle/>
          <a:p>
            <a:pPr algn="ctr"/>
            <a:r>
              <a:rPr lang="en-US" sz="4000" dirty="0">
                <a:solidFill>
                  <a:srgbClr val="FFFFFF"/>
                </a:solidFill>
              </a:rPr>
              <a:t>IF YOU HAVE ANY QUESTIONS:</a:t>
            </a:r>
            <a:br>
              <a:rPr lang="en-US" sz="4000" dirty="0">
                <a:solidFill>
                  <a:srgbClr val="FFFFFF"/>
                </a:solidFill>
              </a:rPr>
            </a:br>
            <a:br>
              <a:rPr lang="en-US" sz="4000" dirty="0">
                <a:solidFill>
                  <a:srgbClr val="FFFFFF"/>
                </a:solidFill>
              </a:rPr>
            </a:br>
            <a:endParaRPr lang="en-US" sz="4000" dirty="0">
              <a:solidFill>
                <a:srgbClr val="FFFFFF"/>
              </a:solidFill>
            </a:endParaRPr>
          </a:p>
        </p:txBody>
      </p:sp>
      <p:sp>
        <p:nvSpPr>
          <p:cNvPr id="4" name="TextBox 3">
            <a:extLst>
              <a:ext uri="{FF2B5EF4-FFF2-40B4-BE49-F238E27FC236}">
                <a16:creationId xmlns:a16="http://schemas.microsoft.com/office/drawing/2014/main" id="{973AA7F0-9965-435A-A840-A64D4932B477}"/>
              </a:ext>
            </a:extLst>
          </p:cNvPr>
          <p:cNvSpPr txBox="1"/>
          <p:nvPr/>
        </p:nvSpPr>
        <p:spPr>
          <a:xfrm>
            <a:off x="257252" y="1698527"/>
            <a:ext cx="11677492" cy="1754326"/>
          </a:xfrm>
          <a:prstGeom prst="rect">
            <a:avLst/>
          </a:prstGeom>
          <a:noFill/>
        </p:spPr>
        <p:txBody>
          <a:bodyPr wrap="none" rtlCol="0">
            <a:spAutoFit/>
          </a:bodyPr>
          <a:lstStyle/>
          <a:p>
            <a:pPr algn="ctr"/>
            <a:r>
              <a:rPr lang="en-US" sz="3600" b="1" dirty="0">
                <a:hlinkClick r:id="rId3"/>
              </a:rPr>
              <a:t>christopher.tatarka@metrostate.edu</a:t>
            </a:r>
            <a:endParaRPr lang="en-US" sz="3600" b="1" dirty="0"/>
          </a:p>
          <a:p>
            <a:pPr algn="ctr"/>
            <a:endParaRPr lang="en-US" sz="3600" b="1" dirty="0"/>
          </a:p>
          <a:p>
            <a:pPr algn="ctr"/>
            <a:r>
              <a:rPr lang="en-US" sz="3600" b="1" dirty="0"/>
              <a:t>I am the only “Tatarka” in the directory at Metro State </a:t>
            </a:r>
            <a:r>
              <a:rPr lang="en-US" sz="3600" b="1" dirty="0">
                <a:sym typeface="Wingdings" panose="05000000000000000000" pitchFamily="2" charset="2"/>
              </a:rPr>
              <a:t></a:t>
            </a:r>
            <a:endParaRPr lang="en-US" sz="3600" b="1" dirty="0"/>
          </a:p>
        </p:txBody>
      </p:sp>
      <p:pic>
        <p:nvPicPr>
          <p:cNvPr id="9" name="Picture 8">
            <a:extLst>
              <a:ext uri="{FF2B5EF4-FFF2-40B4-BE49-F238E27FC236}">
                <a16:creationId xmlns:a16="http://schemas.microsoft.com/office/drawing/2014/main" id="{AC308284-3367-BF53-0C8C-AEC34E5131E5}"/>
              </a:ext>
            </a:extLst>
          </p:cNvPr>
          <p:cNvPicPr>
            <a:picLocks noChangeAspect="1"/>
          </p:cNvPicPr>
          <p:nvPr/>
        </p:nvPicPr>
        <p:blipFill>
          <a:blip r:embed="rId4"/>
          <a:srcRect l="56726" t="23722" r="20456" b="12737"/>
          <a:stretch>
            <a:fillRect/>
          </a:stretch>
        </p:blipFill>
        <p:spPr>
          <a:xfrm>
            <a:off x="5803125" y="3665860"/>
            <a:ext cx="1835925" cy="2987226"/>
          </a:xfrm>
          <a:prstGeom prst="rect">
            <a:avLst/>
          </a:prstGeom>
        </p:spPr>
      </p:pic>
    </p:spTree>
    <p:extLst>
      <p:ext uri="{BB962C8B-B14F-4D97-AF65-F5344CB8AC3E}">
        <p14:creationId xmlns:p14="http://schemas.microsoft.com/office/powerpoint/2010/main" val="4108014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TM02900769[[fn=Retrospect]]</Template>
  <TotalTime>562</TotalTime>
  <Words>1355</Words>
  <Application>Microsoft Office PowerPoint</Application>
  <PresentationFormat>Widescreen</PresentationFormat>
  <Paragraphs>100</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Wingdings</vt:lpstr>
      <vt:lpstr>Office Theme</vt:lpstr>
      <vt:lpstr>Intelligence, Analysis, and Decision-Making</vt:lpstr>
      <vt:lpstr>PowerPoint Presentation</vt:lpstr>
      <vt:lpstr>PowerPoint Presentation</vt:lpstr>
      <vt:lpstr>Uncertainty in Decision Making</vt:lpstr>
      <vt:lpstr>Two Questions:</vt:lpstr>
      <vt:lpstr>Which is “easier” to Answer &amp; Why?</vt:lpstr>
      <vt:lpstr>How About a Question a Bit Closer to Home?</vt:lpstr>
      <vt:lpstr>The United States Intelligence Community</vt:lpstr>
      <vt:lpstr>The United States Intelligence Community</vt:lpstr>
      <vt:lpstr>What is “Intelligence”?</vt:lpstr>
      <vt:lpstr>What is “Intelligence”?</vt:lpstr>
      <vt:lpstr>What is “Intelligence”?</vt:lpstr>
      <vt:lpstr>What is “Intelligence”?  (HYPOTEHTICAL EXAMPLES) </vt:lpstr>
      <vt:lpstr>What is “Intelligence”?  (HYPOTEHTICAL EXAMPLES) </vt:lpstr>
      <vt:lpstr>What is “Intelligence”?  (HYPOTEHTICAL EXAMPLES) </vt:lpstr>
      <vt:lpstr>Analytic Process </vt:lpstr>
      <vt:lpstr>Analytic Judgments Typically Include Likelihood and Confidence Level  </vt:lpstr>
      <vt:lpstr>Random Thoughts on “Technical” Data/Info on Analysis  </vt:lpstr>
      <vt:lpstr>Want to Know More?  </vt:lpstr>
      <vt:lpstr>IF YOU HAVE ANY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Tatarka</dc:creator>
  <cp:lastModifiedBy>Chris Tatarka</cp:lastModifiedBy>
  <cp:revision>4</cp:revision>
  <dcterms:created xsi:type="dcterms:W3CDTF">2025-08-27T21:09:43Z</dcterms:created>
  <dcterms:modified xsi:type="dcterms:W3CDTF">2026-06-08T22:18:02Z</dcterms:modified>
</cp:coreProperties>
</file>